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Segoe UI"/>
              </a:defRPr>
            </a:pPr>
            <a:r>
              <a:t>BIZIONARY ERP SYSTEM</a:t>
            </a:r>
          </a:p>
          <a:p>
            <a:pPr>
              <a:spcBef>
                <a:spcPts val="1200"/>
              </a:spcBef>
              <a:defRPr sz="2000">
                <a:solidFill>
                  <a:srgbClr val="2DD4BF"/>
                </a:solidFill>
                <a:latin typeface="Segoe UI"/>
              </a:defRPr>
            </a:pPr>
            <a:r>
              <a:t>Secure, Agentic AI-Enabled Enterprise Resource Planning platform for 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572000"/>
            <a:ext cx="5029200" cy="1371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Final Year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47548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Primary Goal: </a:t>
            </a:r>
            <a:r>
              <a:rPr b="0">
                <a:solidFill>
                  <a:srgbClr val="F1F5F9"/>
                </a:solidFill>
              </a:rPr>
              <a:t>Unifying sales, procurement, ledgers, and conversational AI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Design Theme: </a:t>
            </a:r>
            <a:r>
              <a:rPr b="0">
                <a:solidFill>
                  <a:srgbClr val="F1F5F9"/>
                </a:solidFill>
              </a:rPr>
              <a:t>Premium Dark Mode with sub-second API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Core ERP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Enterprise-Grade Design: </a:t>
            </a:r>
            <a:r>
              <a:rPr b="0">
                <a:solidFill>
                  <a:srgbClr val="F1F5F9"/>
                </a:solidFill>
              </a:rPr>
              <a:t>Centralized repository integrating product catalogs, real-time inventory levels, multi-channel sales tracking, and client invoicing.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Double-Entry Integrity: </a:t>
            </a:r>
            <a:r>
              <a:rPr b="0">
                <a:solidFill>
                  <a:srgbClr val="F1F5F9"/>
                </a:solidFill>
              </a:rPr>
              <a:t>Automated ledger postings via event-driven database signals ensuring strict financial audits.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Embedded Business Intelligence: </a:t>
            </a:r>
            <a:r>
              <a:rPr b="0">
                <a:solidFill>
                  <a:srgbClr val="F1F5F9"/>
                </a:solidFill>
              </a:rPr>
              <a:t>AI chatbot utilizing LLM tool-calling and predictive analytics for data-driven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Platform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Single-Tenant Multi-User Role Access: </a:t>
            </a:r>
            <a:r>
              <a:rPr b="0">
                <a:solidFill>
                  <a:srgbClr val="F1F5F9"/>
                </a:solidFill>
              </a:rPr>
              <a:t>Secure views for Accountant, Manager, and Administrator.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Dynamic Monthly Excel Parser: </a:t>
            </a:r>
            <a:r>
              <a:rPr b="0">
                <a:solidFill>
                  <a:srgbClr val="F1F5F9"/>
                </a:solidFill>
              </a:rPr>
              <a:t>Automatic processing and schema-matching of raw operational workbooks.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Secure Administrative Panel: </a:t>
            </a:r>
            <a:r>
              <a:rPr b="0">
                <a:solidFill>
                  <a:srgbClr val="F1F5F9"/>
                </a:solidFill>
              </a:rPr>
              <a:t>Dynamic key storage, cached API validation, and key rotation without system downtime.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Responsive SPA Interface: </a:t>
            </a:r>
            <a:r>
              <a:rPr b="0">
                <a:solidFill>
                  <a:srgbClr val="F1F5F9"/>
                </a:solidFill>
              </a:rPr>
              <a:t>Rich data visualization and offline client-side exports.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Segoe UI"/>
              </a:defRPr>
            </a:pPr>
            <a:r>
              <a:t>Why Traditional Systems Fail Small &amp; Medium Enterprises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0152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Fragmented Tools &amp; Offline Spreadsheets: </a:t>
            </a:r>
            <a:r>
              <a:rPr b="0">
                <a:solidFill>
                  <a:srgbClr val="F1F5F9"/>
                </a:solidFill>
              </a:rPr>
              <a:t>Multi-department operations use separated offline logs (purchases in Excel, invoices on paper, receipts in PDF). This leads to massive stock discrepancies.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Lack of Audit Trail and Immutability: </a:t>
            </a:r>
            <a:r>
              <a:rPr b="0">
                <a:solidFill>
                  <a:srgbClr val="F1F5F9"/>
                </a:solidFill>
              </a:rPr>
              <a:t>Manual updates lack structured constraints. Unauthorized stock overrides or accounting anomalies occur without any trackable historical logs.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Real-Time Visibility/Insights: </a:t>
            </a:r>
            <a:r>
              <a:rPr b="0">
                <a:solidFill>
                  <a:srgbClr val="F1F5F9"/>
                </a:solidFill>
              </a:rPr>
              <a:t>Management does not have instantaneous access to aggregated cash flows, profit and loss, or demand charts. Crucial metrics are compiled manually at the end of the month.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Costly Restocking Operations: </a:t>
            </a:r>
            <a:r>
              <a:rPr b="0">
                <a:solidFill>
                  <a:srgbClr val="F1F5F9"/>
                </a:solidFill>
              </a:rPr>
              <a:t>Reorder levels are estimated or checked physically, leading to stockouts during peaks or tied-up cash in slow-moving overstock.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Proposed Solution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The Bizionary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 Consolidation: </a:t>
            </a:r>
            <a:r>
              <a:rPr b="0">
                <a:solidFill>
                  <a:srgbClr val="F1F5F9"/>
                </a:solidFill>
              </a:rPr>
              <a:t>Unified relational database binding products, stock transactions, journal logs, and invoices.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PDF &amp; Excel Ingest: </a:t>
            </a:r>
            <a:r>
              <a:rPr b="0">
                <a:solidFill>
                  <a:srgbClr val="F1F5F9"/>
                </a:solidFill>
              </a:rPr>
              <a:t>Clean drag-and-drop parsing to convert monthly sales files into structured db records.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Strict Double-Entry Ledger: </a:t>
            </a:r>
            <a:r>
              <a:rPr b="0">
                <a:solidFill>
                  <a:srgbClr val="F1F5F9"/>
                </a:solidFill>
              </a:rPr>
              <a:t>Auto-balancing postings of COGS, Assets, Accounts Payables, and Expenses on every transaction.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Core Development 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286000"/>
            <a:ext cx="466344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Incorporate Conversational AI: </a:t>
            </a:r>
            <a:r>
              <a:rPr b="0">
                <a:solidFill>
                  <a:srgbClr val="F1F5F9"/>
                </a:solidFill>
              </a:rPr>
              <a:t>An agentic RAG chatbot utilizing Groq tool-use function calling for natural-language database reports.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Analytics Dashboard: </a:t>
            </a:r>
            <a:r>
              <a:rPr b="0">
                <a:solidFill>
                  <a:srgbClr val="F1F5F9"/>
                </a:solidFill>
              </a:rPr>
              <a:t>Smart pricing advice, sentiment analysis, and demand calculations.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Zero-Downtime System Administration: </a:t>
            </a:r>
            <a:r>
              <a:rPr b="0">
                <a:solidFill>
                  <a:srgbClr val="F1F5F9"/>
                </a:solidFill>
              </a:rPr>
              <a:t>Secure database storage, dynamic loading, and in-memory key cache rotation.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411480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3-Tier Decoupled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65760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Client Layer: </a:t>
            </a:r>
            <a:r>
              <a:rPr b="0">
                <a:solidFill>
                  <a:srgbClr val="F1F5F9"/>
                </a:solidFill>
              </a:rPr>
              <a:t>React 19 SPA served on edge CDNs (Vite, Recharts, Tailwind CSS v4).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Application Layer: </a:t>
            </a:r>
            <a:r>
              <a:rPr b="0">
                <a:solidFill>
                  <a:srgbClr val="F1F5F9"/>
                </a:solidFill>
              </a:rPr>
              <a:t>Stateless Django REST APIs running in containerized runtimes.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Database Layer: </a:t>
            </a:r>
            <a:r>
              <a:rPr b="0">
                <a:solidFill>
                  <a:srgbClr val="F1F5F9"/>
                </a:solidFill>
              </a:rPr>
              <a:t>SQLite 3 / PostgreSQL DB enforcing strict relational rules.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Cognitive Layer: </a:t>
            </a:r>
            <a:r>
              <a:rPr b="0">
                <a:solidFill>
                  <a:srgbClr val="F1F5F9"/>
                </a:solidFill>
              </a:rPr>
              <a:t>Sub-second NLP response pipeline connected to Groq and OpenAI.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64739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783080"/>
            <a:ext cx="6108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Component Data &amp; Action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286000"/>
            <a:ext cx="5925312" cy="33832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>
                <a:solidFill>
                  <a:srgbClr val="0EA5E9"/>
                </a:solidFill>
                <a:latin typeface="Consolas"/>
              </a:defRPr>
            </a:pPr>
            <a:r>
              <a:t> [ React Client (SPA) ]  &lt;-- (HTTPS JWT REST API) --&gt;  [ Django DRF App Server ]</a:t>
            </a:r>
            <a:br/>
            <a:r>
              <a:t>                                                              |</a:t>
            </a:r>
            <a:br/>
            <a:r>
              <a:t>   +----------------------------------------------------------+</a:t>
            </a:r>
            <a:br/>
            <a:r>
              <a:t>   |                                                          |</a:t>
            </a:r>
            <a:br/>
            <a:r>
              <a:t>   v (Event Signals)                                          v (API Key Cache / SDK)</a:t>
            </a:r>
            <a:br/>
            <a:r>
              <a:t>[ SQLite / PostgreSQL DB ]                                 [ Cognitive AI Layer ]</a:t>
            </a:r>
            <a:br/>
            <a:r>
              <a:t> - Inventory Transactions                                   - Groq Llama 3.3 (Tool-use)</a:t>
            </a:r>
            <a:br/>
            <a:r>
              <a:t> - Double-entry Accounting Ledger                           - OpenAI GPT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Technology Stack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Frontend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Vite + React: </a:t>
            </a:r>
            <a:r>
              <a:rPr b="0">
                <a:solidFill>
                  <a:srgbClr val="F1F5F9"/>
                </a:solidFill>
              </a:rPr>
              <a:t>Hot-reloaded SPA interface.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Tailwind CSS v4: </a:t>
            </a:r>
            <a:r>
              <a:rPr b="0">
                <a:solidFill>
                  <a:srgbClr val="F1F5F9"/>
                </a:solidFill>
              </a:rPr>
              <a:t>responsive design engine.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Recharts / ECharts: </a:t>
            </a:r>
            <a:r>
              <a:rPr b="0">
                <a:solidFill>
                  <a:srgbClr val="F1F5F9"/>
                </a:solidFill>
              </a:rPr>
              <a:t>visual sales and accounts charts.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jsPDF: </a:t>
            </a:r>
            <a:r>
              <a:rPr b="0">
                <a:solidFill>
                  <a:srgbClr val="F1F5F9"/>
                </a:solidFill>
              </a:rPr>
              <a:t>client-side offline invoice downloads.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Backend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Django framework: </a:t>
            </a:r>
            <a:r>
              <a:rPr b="0">
                <a:solidFill>
                  <a:srgbClr val="F1F5F9"/>
                </a:solidFill>
              </a:rPr>
              <a:t>secure business logic framework.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Django REST Framework: </a:t>
            </a:r>
            <a:r>
              <a:rPr b="0">
                <a:solidFill>
                  <a:srgbClr val="F1F5F9"/>
                </a:solidFill>
              </a:rPr>
              <a:t>JWT-authenticated endpoints.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Pandas &amp; openpyxl: </a:t>
            </a:r>
            <a:r>
              <a:rPr b="0">
                <a:solidFill>
                  <a:srgbClr val="F1F5F9"/>
                </a:solidFill>
              </a:rPr>
              <a:t>dynamic monthly Excel workbook parser.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SQLite &amp; PostgreSQL: </a:t>
            </a:r>
            <a:r>
              <a:rPr b="0">
                <a:solidFill>
                  <a:srgbClr val="F1F5F9"/>
                </a:solidFill>
              </a:rPr>
              <a:t>transactional DB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3832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AI &amp;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01752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Groq LLM SDK: </a:t>
            </a:r>
            <a:r>
              <a:rPr b="0">
                <a:solidFill>
                  <a:srgbClr val="F1F5F9"/>
                </a:solidFill>
              </a:rPr>
              <a:t>high-performance Llama 3.3 chatbot engine.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OpenAI API: </a:t>
            </a:r>
            <a:r>
              <a:rPr b="0">
                <a:solidFill>
                  <a:srgbClr val="F1F5F9"/>
                </a:solidFill>
              </a:rPr>
              <a:t>semantic sentiment analysis and summaries.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Railway Containers: </a:t>
            </a:r>
            <a:r>
              <a:rPr b="0">
                <a:solidFill>
                  <a:srgbClr val="F1F5F9"/>
                </a:solidFill>
              </a:rPr>
              <a:t>backend web deployment.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Vercel CDN: </a:t>
            </a:r>
            <a:r>
              <a:rPr b="0">
                <a:solidFill>
                  <a:srgbClr val="F1F5F9"/>
                </a:solidFill>
              </a:rPr>
              <a:t>frontend static file hosting.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Key Architectural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Decisions Driving Security, Speed, and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0152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Vite Single Page Application (SPA) over SSR: </a:t>
            </a:r>
            <a:r>
              <a:rPr b="0">
                <a:solidFill>
                  <a:srgbClr val="F1F5F9"/>
                </a:solidFill>
              </a:rPr>
              <a:t>Renders immediate UI interactions. Sidebar, analytical charts, sales totals, and inventory tables update dynamically without annoying full-page browser refreshes.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Django post-save Signals over Manual Service Triggers: </a:t>
            </a:r>
            <a:r>
              <a:rPr b="0">
                <a:solidFill>
                  <a:srgbClr val="F1F5F9"/>
                </a:solidFill>
              </a:rPr>
              <a:t>Double-entry accounting registers must balance to zero. Using database signals guarantees that transaction creations (e.g. creating a sales receipt) atomically write appropriate ledger debit/credit postings in the same SQL commit.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Groq Llama 3.3 Cloud API over Self-Hosted Models: </a:t>
            </a:r>
            <a:r>
              <a:rPr b="0">
                <a:solidFill>
                  <a:srgbClr val="F1F5F9"/>
                </a:solidFill>
              </a:rPr>
              <a:t>Conversational RAG databases require sub-second generation. Groq's high token-per-second output speeds up tool-calling and report building, keeping the chatbot responsive.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Decoupled Deployment Layout (Vercel + Railway): </a:t>
            </a:r>
            <a:r>
              <a:rPr b="0">
                <a:solidFill>
                  <a:srgbClr val="F1F5F9"/>
                </a:solidFill>
              </a:rPr>
              <a:t>By placing compiled React static files on Vercel's global edge network and running Python on Railway container instances, we achieve near-instant client page 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Core ERP Business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Inventory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0175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Dynamic stock warnings.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Detailed restock tracking.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Direct stock purchase system adds products immediately to shop or warehouse.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Procurement &amp; Suppliers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Supplier profiles with category.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Ordered slips generated on pending purchases.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Real-time due-date alerts for outstanding deliveries.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3832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B308"/>
                </a:solidFill>
                <a:latin typeface="Segoe UI"/>
              </a:defRPr>
            </a:pPr>
            <a:r>
              <a:t>Sales &amp; Returns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01752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Instant invoice generation.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Sales returns processing.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• Double-entry ledger posts COGS and cash/receivables instantly on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Double-Entry Accounting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Structure &amp;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Multi-Level Chart of Accounts (COA): </a:t>
            </a:r>
            <a:r>
              <a:rPr b="0">
                <a:solidFill>
                  <a:srgbClr val="F1F5F9"/>
                </a:solidFill>
              </a:rPr>
              <a:t>Hierarchy consisting of Assets, Liabilities, Equity, Revenues, and Expenses.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Strict Balancing Rule: </a:t>
            </a:r>
            <a:r>
              <a:rPr b="0">
                <a:solidFill>
                  <a:srgbClr val="F1F5F9"/>
                </a:solidFill>
              </a:rPr>
              <a:t>Debits must equal Credits for every logged transaction. Journal entries cannot be saved in an unbalanced state.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Audit trail tracking: </a:t>
            </a:r>
            <a:r>
              <a:rPr b="0">
                <a:solidFill>
                  <a:srgbClr val="F1F5F9"/>
                </a:solidFill>
              </a:rPr>
              <a:t>Real-time ledger entries provide chronological traces for accounting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Automated Signal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Sales Posting: </a:t>
            </a:r>
            <a:r>
              <a:rPr b="0">
                <a:solidFill>
                  <a:srgbClr val="F1F5F9"/>
                </a:solidFill>
              </a:rPr>
              <a:t>DR Cash/Bank (1010) or Accounts Receivable (1200) | CR Revenue (4010). DR COGS (5010) | CR Inventory Asset (1100).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Direct Purchases: </a:t>
            </a:r>
            <a:r>
              <a:rPr b="0">
                <a:solidFill>
                  <a:srgbClr val="F1F5F9"/>
                </a:solidFill>
              </a:rPr>
              <a:t>DR Inventory Asset (1100) or COGS (5010) | CR Cash (1010) or Accounts Payable (2010).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Automatic reversal: </a:t>
            </a:r>
            <a:r>
              <a:rPr b="0">
                <a:solidFill>
                  <a:srgbClr val="F1F5F9"/>
                </a:solidFill>
              </a:rPr>
              <a:t>Returns dynamically post offset transactions, ensuring financial balances reflect stock movement.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Conversational AI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Agentic Chatbot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Dynamic Database Agent: </a:t>
            </a:r>
            <a:r>
              <a:rPr b="0">
                <a:solidFill>
                  <a:srgbClr val="F1F5F9"/>
                </a:solidFill>
              </a:rPr>
              <a:t>Utilizes Llama 3.3 on Groq with function-calling schemas to translate user prompts into structured API queries.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Operational RAG Reporting: </a:t>
            </a:r>
            <a:r>
              <a:rPr b="0">
                <a:solidFill>
                  <a:srgbClr val="F1F5F9"/>
                </a:solidFill>
              </a:rPr>
              <a:t>Summarizes low-stock alerts, counts unpaid invoices, filters periods, and lists top suppliers.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Conversational Visualization: </a:t>
            </a:r>
            <a:r>
              <a:rPr b="0">
                <a:solidFill>
                  <a:srgbClr val="F1F5F9"/>
                </a:solidFill>
              </a:rPr>
              <a:t>The chatbot can generate and render interactive sales graphs directly in the chat panel based on live query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Function Calling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1112" y="2194560"/>
            <a:ext cx="466344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EA5E9"/>
                </a:solidFill>
                <a:latin typeface="Consolas"/>
              </a:defRPr>
            </a:pPr>
            <a:r>
              <a:t>User: 'Which products are low on stock?'</a:t>
            </a:r>
            <a:br/>
            <a:r>
              <a:t>  |</a:t>
            </a:r>
            <a:br/>
            <a:r>
              <a:t>  v</a:t>
            </a:r>
            <a:br/>
            <a:r>
              <a:t>Groq (Llama 3.3): Detects query needs list_low_stock()</a:t>
            </a:r>
            <a:br/>
            <a:r>
              <a:t>  |</a:t>
            </a:r>
            <a:br/>
            <a:r>
              <a:t>  v (Executes locally on Django server)</a:t>
            </a:r>
            <a:br/>
            <a:r>
              <a:t>API Service: Product.objects.filter(stock &lt;= min_stock)</a:t>
            </a:r>
            <a:br/>
            <a:r>
              <a:t>  |</a:t>
            </a:r>
            <a:br/>
            <a:r>
              <a:t>  v</a:t>
            </a:r>
            <a:br/>
            <a:r>
              <a:t>Groq: Receives list JSON -&gt; Formulates natural response</a:t>
            </a:r>
            <a:br/>
            <a:r>
              <a:t>  |</a:t>
            </a:r>
            <a:br/>
            <a:r>
              <a:t>  v</a:t>
            </a:r>
            <a:br/>
            <a:r>
              <a:t>User UI: 'You have 3 items low on stock: Pepsi, Lays...'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AI Predictive Analytics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Business Intelligence Models &amp;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0152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Demand &amp; Sales Velocity Analysis: </a:t>
            </a:r>
            <a:r>
              <a:rPr b="0">
                <a:solidFill>
                  <a:srgbClr val="F1F5F9"/>
                </a:solidFill>
              </a:rPr>
              <a:t>Checks current sales trends to calculate demand velocity (Fast, Moderate, Slow) for every product catalog item.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NLP Automatic Business Reporting: </a:t>
            </a:r>
            <a:r>
              <a:rPr b="0">
                <a:solidFill>
                  <a:srgbClr val="F1F5F9"/>
                </a:solidFill>
              </a:rPr>
              <a:t>Generates written reports summarizing current month revenues, top performing items, and critical alerts.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Smart Reordering Calculations: </a:t>
            </a:r>
            <a:r>
              <a:rPr b="0">
                <a:solidFill>
                  <a:srgbClr val="F1F5F9"/>
                </a:solidFill>
              </a:rPr>
              <a:t>Calculates the exact recommended reorder quantities based on average daily sales and lead times.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Pricing Optimization Suggestions: </a:t>
            </a:r>
            <a:r>
              <a:rPr b="0">
                <a:solidFill>
                  <a:srgbClr val="F1F5F9"/>
                </a:solidFill>
              </a:rPr>
              <a:t>Recommends margin adjustments if sales velocity rises above historical thresholds.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Sentiment Evaluation: </a:t>
            </a:r>
            <a:r>
              <a:rPr b="0">
                <a:solidFill>
                  <a:srgbClr val="F1F5F9"/>
                </a:solidFill>
              </a:rPr>
              <a:t>Evaluates customer feedback text using NLP classification (Positive, Neutral, Negative) to alert management on support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Code Highlight: Automated Ledger Postings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21208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>
                <a:solidFill>
                  <a:srgbClr val="0EA5E9"/>
                </a:solidFill>
                <a:latin typeface="Consolas"/>
              </a:defRPr>
            </a:pPr>
            <a:r>
              <a:t>@receiver(post_save, sender=Purchase)</a:t>
            </a:r>
            <a:br/>
            <a:r>
              <a:t>def update_product_stock_on_save(sender, instance, created, **kwargs):</a:t>
            </a:r>
            <a:br/>
            <a:r>
              <a:t>    # Get delivery location (SHOP or WAREHOUSE)</a:t>
            </a:r>
            <a:br/>
            <a:r>
              <a:t>    location = getattr(instance, 'delivery_location', 'WAREHOUSE')</a:t>
            </a:r>
            <a:br/>
            <a:r>
              <a:t>    qty = instance.quantity_purchased</a:t>
            </a:r>
            <a:br/>
            <a:r>
              <a:t>    product = instance.product</a:t>
            </a:r>
            <a:br/>
            <a:br/>
            <a:r>
              <a:t>    if created:</a:t>
            </a:r>
            <a:br/>
            <a:r>
              <a:t>        # Route and increment stock based on location</a:t>
            </a:r>
            <a:br/>
            <a:r>
              <a:t>        if location == 'SHOP':</a:t>
            </a:r>
            <a:br/>
            <a:r>
              <a:t>            product.shop_stock += qty</a:t>
            </a:r>
            <a:br/>
            <a:r>
              <a:t>        else:</a:t>
            </a:r>
            <a:br/>
            <a:r>
              <a:t>            product.warehouse_stock += qty</a:t>
            </a:r>
            <a:br/>
            <a:r>
              <a:t>        product.save()</a:t>
            </a:r>
            <a:br/>
            <a:br/>
            <a:r>
              <a:t>        # Automatically log InventoryTransaction</a:t>
            </a:r>
            <a:br/>
            <a:r>
              <a:t>        InventoryTransaction.objects.create(</a:t>
            </a:r>
            <a:br/>
            <a:r>
              <a:t>            product=product, quantity=qty, txn_type='IN', ...</a:t>
            </a:r>
            <a:br/>
            <a:r>
              <a:t>       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Dynamic Stock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Event-Driven Triggers: </a:t>
            </a:r>
            <a:r>
              <a:rPr b="0">
                <a:solidFill>
                  <a:srgbClr val="F1F5F9"/>
                </a:solidFill>
              </a:rPr>
              <a:t>Django database signals run on every transactional save to synchronize related tables.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Warehouse vs. Shop Routing: </a:t>
            </a:r>
            <a:r>
              <a:rPr b="0">
                <a:solidFill>
                  <a:srgbClr val="F1F5F9"/>
                </a:solidFill>
              </a:rPr>
              <a:t>Automatically checks the delivery destination and updates the corresponding stock field.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Audit Immutability: </a:t>
            </a:r>
            <a:r>
              <a:rPr b="0">
                <a:solidFill>
                  <a:srgbClr val="F1F5F9"/>
                </a:solidFill>
              </a:rPr>
              <a:t>Creates an InventoryTransaction record simultaneously to build a permanent, trackable stock audit ledger.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Code Highlight: Chatbot Tool Schemas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21208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>
                <a:solidFill>
                  <a:srgbClr val="0EA5E9"/>
                </a:solidFill>
                <a:latin typeface="Consolas"/>
              </a:defRPr>
            </a:pPr>
            <a:r>
              <a:t>CHATBOT_TOOLS = [</a:t>
            </a:r>
            <a:br/>
            <a:r>
              <a:t>    {</a:t>
            </a:r>
            <a:br/>
            <a:r>
              <a:t>        'type': 'function',</a:t>
            </a:r>
            <a:br/>
            <a:r>
              <a:t>        'function': {</a:t>
            </a:r>
            <a:br/>
            <a:r>
              <a:t>            'name': 'list_low_stock_products',</a:t>
            </a:r>
            <a:br/>
            <a:r>
              <a:t>            'description': 'Retrieve products with stock &lt;= min_stock',</a:t>
            </a:r>
            <a:br/>
            <a:r>
              <a:t>            'parameters': {</a:t>
            </a:r>
            <a:br/>
            <a:r>
              <a:t>                'type': 'object',</a:t>
            </a:r>
            <a:br/>
            <a:r>
              <a:t>                'properties': {},</a:t>
            </a:r>
            <a:br/>
            <a:r>
              <a:t>                'required': []</a:t>
            </a:r>
            <a:br/>
            <a:r>
              <a:t>            }</a:t>
            </a:r>
            <a:br/>
            <a:r>
              <a:t>        }</a:t>
            </a:r>
            <a:br/>
            <a:r>
              <a:t>    },</a:t>
            </a:r>
            <a:br/>
            <a:r>
              <a:t>    {</a:t>
            </a:r>
            <a:br/>
            <a:r>
              <a:t>        'type': 'function',</a:t>
            </a:r>
            <a:br/>
            <a:r>
              <a:t>        'function': {</a:t>
            </a:r>
            <a:br/>
            <a:r>
              <a:t>            'name': 'query_sales_trends',</a:t>
            </a:r>
            <a:br/>
            <a:r>
              <a:t>            'description': 'Aggregates sales for a specific date range',</a:t>
            </a:r>
            <a:br/>
            <a:r>
              <a:t>            'parameters': {</a:t>
            </a:r>
            <a:br/>
            <a:r>
              <a:t>                'type': 'object',</a:t>
            </a:r>
            <a:br/>
            <a:r>
              <a:t>                'properties': {</a:t>
            </a:r>
            <a:br/>
            <a:r>
              <a:t>                    'start_date': {'type': 'string', 'format': 'date'},</a:t>
            </a:r>
            <a:br/>
            <a:r>
              <a:t>                    'end_date': {'type': 'string', 'format': 'date'}</a:t>
            </a:r>
            <a:br/>
            <a:r>
              <a:t>                }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Groq Tool Calling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Structured Declarations: </a:t>
            </a:r>
            <a:r>
              <a:rPr b="0">
                <a:solidFill>
                  <a:srgbClr val="F1F5F9"/>
                </a:solidFill>
              </a:rPr>
              <a:t>Declares available Python functions to the LLM as JSON schemas.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Parameter Validation: </a:t>
            </a:r>
            <a:r>
              <a:rPr b="0">
                <a:solidFill>
                  <a:srgbClr val="F1F5F9"/>
                </a:solidFill>
              </a:rPr>
              <a:t>Enforces constraints (like start/end dates for trend analysis) so the LLM outputs valid JSON parameters.</a:t>
            </a:r>
          </a:p>
          <a:p>
            <a:pPr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Agentic Translation: </a:t>
            </a:r>
            <a:r>
              <a:rPr b="0">
                <a:solidFill>
                  <a:srgbClr val="F1F5F9"/>
                </a:solidFill>
              </a:rPr>
              <a:t>Allows the model to autonomously choose the correct tool to fetch live, accurate data rather than fabricating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Technical Challenges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Dynamic Column Excel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Challenge: </a:t>
            </a:r>
            <a:r>
              <a:rPr b="0">
                <a:solidFill>
                  <a:srgbClr val="F1F5F9"/>
                </a:solidFill>
              </a:rPr>
              <a:t>Uploaded sales worksheets vary monthly. Different columns names, blank rows, and changing date formats make parsing fragile.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Solution: </a:t>
            </a:r>
            <a:r>
              <a:rPr b="0">
                <a:solidFill>
                  <a:srgbClr val="F1F5F9"/>
                </a:solidFill>
              </a:rPr>
              <a:t>Implemented a robust parser using Pandas. The parser dynamically checks sheet names, matches headers case-insensitively, and handles errors cleanly to ensure correct database writes.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Low-Latency AI Chatbot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Challenge: </a:t>
            </a:r>
            <a:r>
              <a:rPr b="0">
                <a:solidFill>
                  <a:srgbClr val="F1F5F9"/>
                </a:solidFill>
              </a:rPr>
              <a:t>Traditional database query processing using natural language can take 5+ seconds, resulting in poor user experience.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Solution: </a:t>
            </a:r>
            <a:r>
              <a:rPr b="0">
                <a:solidFill>
                  <a:srgbClr val="F1F5F9"/>
                </a:solidFill>
              </a:rPr>
              <a:t>Leveraged Groq's Llama 3.3 models for sub-second text processing, and cached admin settings keys in-memory to prevent redundant database checks.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Data Portability &amp; 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Self-Contained SQLite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Database Portability: </a:t>
            </a:r>
            <a:r>
              <a:rPr b="0">
                <a:solidFill>
                  <a:srgbClr val="F1F5F9"/>
                </a:solidFill>
              </a:rPr>
              <a:t>All records (products, transactions, cash flows, user credentials) are saved in a single, robust file named `db.sqlite3`.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Physical Isolation: </a:t>
            </a:r>
            <a:r>
              <a:rPr b="0">
                <a:solidFill>
                  <a:srgbClr val="F1F5F9"/>
                </a:solidFill>
              </a:rPr>
              <a:t>The database resides inside the `_internal` subdirectory of the compiled standalone package.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Simple Copy-Paste Backup: </a:t>
            </a:r>
            <a:r>
              <a:rPr b="0">
                <a:solidFill>
                  <a:srgbClr val="F1F5F9"/>
                </a:solidFill>
              </a:rPr>
              <a:t>Users can back up their entire store database by making a duplicate copy of `db.sqlite3`.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Procedure for Updating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1. Copy Old DB: </a:t>
            </a:r>
            <a:r>
              <a:rPr b="0">
                <a:solidFill>
                  <a:srgbClr val="F1F5F9"/>
                </a:solidFill>
              </a:rPr>
              <a:t>Go to the old folder and copy `BizionaryERP/_internal/db.sqlite3`.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2. Extract New Version: </a:t>
            </a:r>
            <a:r>
              <a:rPr b="0">
                <a:solidFill>
                  <a:srgbClr val="F1F5F9"/>
                </a:solidFill>
              </a:rPr>
              <a:t>Extract the updated compiled zip package.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3. Replace Template: </a:t>
            </a:r>
            <a:r>
              <a:rPr b="0">
                <a:solidFill>
                  <a:srgbClr val="F1F5F9"/>
                </a:solidFill>
              </a:rPr>
              <a:t>Paste the copied `db.sqlite3` file into the new `_internal` directory, replacing the blank database.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4. Run Launcher: </a:t>
            </a:r>
            <a:r>
              <a:rPr b="0">
                <a:solidFill>
                  <a:srgbClr val="F1F5F9"/>
                </a:solidFill>
              </a:rPr>
              <a:t>Double-click the launch script; all historical records will load immediately.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Scalability &amp; 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0152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Multi-Tenant SaaS Support: </a:t>
            </a:r>
            <a:r>
              <a:rPr b="0">
                <a:solidFill>
                  <a:srgbClr val="F1F5F9"/>
                </a:solidFill>
              </a:rPr>
              <a:t>Transition the current single-enterprise design to support multi-tenant user bases, permitting multiple businesses to register and manage their operations independently.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Hardware Integration: </a:t>
            </a:r>
            <a:r>
              <a:rPr b="0">
                <a:solidFill>
                  <a:srgbClr val="F1F5F9"/>
                </a:solidFill>
              </a:rPr>
              <a:t>Build direct interfaces for POS peripheral devices, including barcode scanners, receipt thermal printers, and electronic cash drawers.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Notifications Pipeline: </a:t>
            </a:r>
            <a:r>
              <a:rPr b="0">
                <a:solidFill>
                  <a:srgbClr val="F1F5F9"/>
                </a:solidFill>
              </a:rPr>
              <a:t>Connect SMS (Twilio) and Email (SendGrid) triggers to dynamically alert suppliers on low stock, send invoice reminders to customers, and email managers financial summaries.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Extended AI Capabilities: </a:t>
            </a:r>
            <a:r>
              <a:rPr b="0">
                <a:solidFill>
                  <a:srgbClr val="F1F5F9"/>
                </a:solidFill>
              </a:rPr>
              <a:t>Build deep learning models for advanced predictive demand forecasting based on external seasonal events, market trends, and historic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2DD4BF"/>
                </a:solidFill>
                <a:latin typeface="Segoe UI"/>
              </a:defRPr>
            </a:pPr>
            <a:r>
              <a:t>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