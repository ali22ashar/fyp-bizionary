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20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38BDF8"/>
                </a:solidFill>
                <a:latin typeface="Segoe UI"/>
              </a:defRPr>
            </a:pPr>
            <a:r>
              <a:t>BIZIONARY ERP SYSTEM</a:t>
            </a:r>
          </a:p>
          <a:p>
            <a:pPr>
              <a:spcBef>
                <a:spcPts val="800"/>
              </a:spcBef>
              <a:defRPr sz="2000">
                <a:solidFill>
                  <a:srgbClr val="2DD4BF"/>
                </a:solidFill>
                <a:latin typeface="Segoe UI"/>
              </a:defRPr>
            </a:pPr>
            <a:r>
              <a:t>A Secure, Agentic AI-Enabled Enterprise Resource Planning Platform for SMEs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Corporate Ledgers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301752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Consolidated relational schema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Strict double-entry journal logs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Signal-driven inventory ledgers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AI-Driven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301752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Groq Llama 3.3 chatbot RAG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NLP pricing recommendations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Stock velocity demand forecasts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389120"/>
            <a:ext cx="3383280" cy="16459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Dynamic 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846320"/>
            <a:ext cx="301752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Drag &amp; Drop sales PDF uploader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Robust monthly Excel parser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• Zero-downtime key administration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The Problem vs. The Bizionary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  <a:latin typeface="Segoe UI"/>
              </a:defRPr>
            </a:pPr>
            <a:r>
              <a:t>SME Operational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Fragmented Tools: </a:t>
            </a:r>
            <a:r>
              <a:rPr b="0">
                <a:solidFill>
                  <a:srgbClr val="F1F5F9"/>
                </a:solidFill>
              </a:rPr>
              <a:t>Relying on paper billing, disconnected PDFs, and offline spreadsheets leads to massive inventory and ledger errors.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 Transactional Audits: </a:t>
            </a:r>
            <a:r>
              <a:rPr b="0">
                <a:solidFill>
                  <a:srgbClr val="F1F5F9"/>
                </a:solidFill>
              </a:rPr>
              <a:t>Manual database overrides occur without log checks, causing trace errors or unauthorized stock edits.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Delayed Business Intelligence: </a:t>
            </a:r>
            <a:r>
              <a:rPr b="0">
                <a:solidFill>
                  <a:srgbClr val="F1F5F9"/>
                </a:solidFill>
              </a:rPr>
              <a:t>Managers must compile logs manually at month-end to understand cash flows or revenue margins.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Manual Restock Checks: </a:t>
            </a:r>
            <a:r>
              <a:rPr b="0">
                <a:solidFill>
                  <a:srgbClr val="F1F5F9"/>
                </a:solidFill>
              </a:rPr>
              <a:t>Physical inventory checks lead to unexpected stockouts or expensive cash-blocking overstocks.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The Integrated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Centralized ERP Architecture: </a:t>
            </a:r>
            <a:r>
              <a:rPr b="0">
                <a:solidFill>
                  <a:srgbClr val="F1F5F9"/>
                </a:solidFill>
              </a:rPr>
              <a:t>Relational database linking Sales, Purchases, Ledgers, Invoices, and Inventory in one schema.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Signals Ledger: </a:t>
            </a:r>
            <a:r>
              <a:rPr b="0">
                <a:solidFill>
                  <a:srgbClr val="F1F5F9"/>
                </a:solidFill>
              </a:rPr>
              <a:t>Post-save hooks run debits/credits and update inventory counts automatically upon saving transactions.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Sub-Second Conversational BI: </a:t>
            </a:r>
            <a:r>
              <a:rPr b="0">
                <a:solidFill>
                  <a:srgbClr val="F1F5F9"/>
                </a:solidFill>
              </a:rPr>
              <a:t>Manager-level chatbot translating natural language queries to fetch real-time reports.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Ingestion Pipeline: </a:t>
            </a:r>
            <a:r>
              <a:rPr b="0">
                <a:solidFill>
                  <a:srgbClr val="F1F5F9"/>
                </a:solidFill>
              </a:rPr>
              <a:t>Parse dynamic monthly sales worksheets and drag-and-drop PDF invoices to update system 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Enterprise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React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94560"/>
            <a:ext cx="164592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FRONTEND SPA</a:t>
            </a:r>
            <a:br/>
            <a:br/>
            <a:r>
              <a:t>• React 19.2 (Vite)</a:t>
            </a:r>
            <a:br/>
            <a:r>
              <a:t>• Tailwind CSS v4</a:t>
            </a:r>
            <a:br/>
            <a:r>
              <a:t>• Lucide Icons</a:t>
            </a:r>
            <a:br/>
            <a:r>
              <a:t>• Recharts graphs</a:t>
            </a:r>
            <a:br/>
            <a:r>
              <a:t>• jsPDF generator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Django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194560"/>
            <a:ext cx="164592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APPLICATION CORE</a:t>
            </a:r>
            <a:br/>
            <a:br/>
            <a:r>
              <a:t>• Django 4.2.7 Core</a:t>
            </a:r>
            <a:br/>
            <a:r>
              <a:t>• REST Framework</a:t>
            </a:r>
            <a:br/>
            <a:r>
              <a:t>• JWT Stateless Auth</a:t>
            </a:r>
            <a:br/>
            <a:r>
              <a:t>• post_save Signals</a:t>
            </a:r>
            <a:br/>
            <a:r>
              <a:t>• CORS Middleware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  <a:latin typeface="Segoe UI"/>
              </a:defRPr>
            </a:pPr>
            <a:r>
              <a:t>Cognitive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2194560"/>
            <a:ext cx="164592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INTELLIGENT LAYER</a:t>
            </a:r>
            <a:br/>
            <a:br/>
            <a:r>
              <a:t>• Groq SDK</a:t>
            </a:r>
            <a:br/>
            <a:r>
              <a:t>• Llama 3.3 Engine</a:t>
            </a:r>
            <a:br/>
            <a:r>
              <a:t>• Function Calling</a:t>
            </a:r>
            <a:br/>
            <a:r>
              <a:t>• OpenAI API GPT</a:t>
            </a:r>
            <a:br/>
            <a:r>
              <a:t>• Sentiment Analysis</a:t>
            </a:r>
            <a:br/>
            <a:r>
              <a:t>• Predictive Insights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645920"/>
            <a:ext cx="201168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B308"/>
                </a:solidFill>
                <a:latin typeface="Segoe UI"/>
              </a:defRPr>
            </a:pPr>
            <a:r>
              <a:t>Data &amp; Ingestion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194560"/>
            <a:ext cx="1645920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ANALYSIS &amp; STORAGE</a:t>
            </a:r>
            <a:br/>
            <a:br/>
            <a:r>
              <a:t>• SQLite 3 (Dev)</a:t>
            </a:r>
            <a:br/>
            <a:r>
              <a:t>• PostgreSQL (Prod)</a:t>
            </a:r>
            <a:br/>
            <a:r>
              <a:t>• Pandas parser</a:t>
            </a:r>
            <a:br/>
            <a:r>
              <a:t>• openpyxl Engine</a:t>
            </a:r>
            <a:br/>
            <a:r>
              <a:t>• DB In-memory 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645920"/>
            <a:ext cx="1856231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783080"/>
            <a:ext cx="14904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0" y="2194560"/>
            <a:ext cx="1490472" cy="3566160"/>
          </a:xfrm>
          <a:prstGeom prst="rect">
            <a:avLst/>
          </a:prstGeom>
          <a:solidFill>
            <a:srgbClr val="0F172A"/>
          </a:solidFill>
          <a:ln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1F5F9"/>
                </a:solidFill>
                <a:latin typeface="Segoe UI"/>
              </a:defRPr>
            </a:pPr>
            <a:r>
              <a:t>DEPLOYMENT</a:t>
            </a:r>
            <a:br/>
            <a:br/>
            <a:r>
              <a:t>• Vercel Edge CDN</a:t>
            </a:r>
            <a:br/>
            <a:r>
              <a:t>• Railway API host</a:t>
            </a:r>
            <a:br/>
            <a:r>
              <a:t>• Docker runtimes</a:t>
            </a:r>
            <a:br/>
            <a:r>
              <a:t>• Git CI/CD flows</a:t>
            </a:r>
            <a:br/>
            <a:r>
              <a:t>• local Windows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Executive Dashboard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72768"/>
            <a:ext cx="5632704" cy="4535424"/>
          </a:xfrm>
          <a:prstGeom prst="rect">
            <a:avLst/>
          </a:prstGeom>
          <a:solidFill>
            <a:srgbClr val="141B36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4864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645920"/>
            <a:ext cx="5102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Metrics &amp;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6344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How it works: </a:t>
            </a:r>
            <a:r>
              <a:rPr b="0">
                <a:solidFill>
                  <a:srgbClr val="F1F5F9"/>
                </a:solidFill>
              </a:rPr>
              <a:t>Displays real-time executive indicators (revenue, expense, profit), active items count, pending procurement count, sales volume, and inventory valuations.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Backend/Frontend Attachment: </a:t>
            </a:r>
            <a:r>
              <a:rPr b="0">
                <a:solidFill>
                  <a:srgbClr val="F1F5F9"/>
                </a:solidFill>
              </a:rPr>
              <a:t>React triggers Axios queries to `/api/dashboard/summary/`. Django aggregates records using ORM (`Sum`, `Count`) and caches variables in memory.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Outcomes: </a:t>
            </a:r>
            <a:r>
              <a:rPr b="0">
                <a:solidFill>
                  <a:srgbClr val="F1F5F9"/>
                </a:solidFill>
              </a:rPr>
              <a:t>Immediate overview of company solvency, financial position, and quick navigation routes (add sales, adjust stocks, create products).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Sales Performance Insights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72768"/>
            <a:ext cx="5632704" cy="4535424"/>
          </a:xfrm>
          <a:prstGeom prst="rect">
            <a:avLst/>
          </a:prstGeom>
          <a:solidFill>
            <a:srgbClr val="141B36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4864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645920"/>
            <a:ext cx="5102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Interactive Sales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6344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How it works: </a:t>
            </a:r>
            <a:r>
              <a:rPr b="0">
                <a:solidFill>
                  <a:srgbClr val="F1F5F9"/>
                </a:solidFill>
              </a:rPr>
              <a:t>Features a dual-axis analytical layout displaying quantities sold by stacked category bars and revenue trends by solid lines.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Backend/Frontend Attachment: </a:t>
            </a:r>
            <a:r>
              <a:rPr b="0">
                <a:solidFill>
                  <a:srgbClr val="F1F5F9"/>
                </a:solidFill>
              </a:rPr>
              <a:t>Powered by Recharts on the client which queries `/api/dashboard/insights/?period=10`. Backend executes database aggregates grouping transactions by category and date.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Outcomes: </a:t>
            </a:r>
            <a:r>
              <a:rPr b="0">
                <a:solidFill>
                  <a:srgbClr val="F1F5F9"/>
                </a:solidFill>
              </a:rPr>
              <a:t>Helps managers visual sales demand trends, monitor category velocities, and track profit projections over custom periods.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Accounts &amp; Financial Ledger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72768"/>
            <a:ext cx="5632704" cy="4535424"/>
          </a:xfrm>
          <a:prstGeom prst="rect">
            <a:avLst/>
          </a:prstGeom>
          <a:solidFill>
            <a:srgbClr val="141B36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4864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645920"/>
            <a:ext cx="5102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Double-Entry Financial Auditing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6344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How it works: </a:t>
            </a:r>
            <a:r>
              <a:rPr b="0">
                <a:solidFill>
                  <a:srgbClr val="F1F5F9"/>
                </a:solidFill>
              </a:rPr>
              <a:t>Organizes financial accounts (Revenues, Expenses, Receivables, Utility Bills) in tabbed lists, displaying gross balances and expandable general journal transactions.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Backend/Frontend Attachment: </a:t>
            </a:r>
            <a:r>
              <a:rPr b="0">
                <a:solidFill>
                  <a:srgbClr val="F1F5F9"/>
                </a:solidFill>
              </a:rPr>
              <a:t>Queries `/api/accounts/ledger-summary/`. The 'Reconcile Ledger' button triggers backend `/api/accounts/reconcile/` which verifies that the sum of debits equals the sum of credits.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Outcomes: </a:t>
            </a:r>
            <a:r>
              <a:rPr b="0">
                <a:solidFill>
                  <a:srgbClr val="F1F5F9"/>
                </a:solidFill>
              </a:rPr>
              <a:t>Mathematically balanced company registers, automated transaction ledger trail, and click-to-verify double-entry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Product Catalog &amp; Custom Sections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72768"/>
            <a:ext cx="5632704" cy="4535424"/>
          </a:xfrm>
          <a:prstGeom prst="rect">
            <a:avLst/>
          </a:prstGeom>
          <a:solidFill>
            <a:srgbClr val="141B36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4864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645920"/>
            <a:ext cx="5102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Metadata Columns &amp; Inventory Sync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6344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How it works: </a:t>
            </a:r>
            <a:r>
              <a:rPr b="0">
                <a:solidFill>
                  <a:srgbClr val="F1F5F9"/>
                </a:solidFill>
              </a:rPr>
              <a:t>Renders dynamic product tables grouped by category sections (Beverages, Stationery, Books). Displays SKU, cost, selling price, margin, and stock levels.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Backend/Frontend Attachment: </a:t>
            </a:r>
            <a:r>
              <a:rPr b="0">
                <a:solidFill>
                  <a:srgbClr val="F1F5F9"/>
                </a:solidFill>
              </a:rPr>
              <a:t>React constructs category filters locally. The `+ Column` tool calls `/api/products/custom-columns/` to alter metadata schemas dynamically without database downtime.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Outcomes: </a:t>
            </a:r>
            <a:r>
              <a:rPr b="0">
                <a:solidFill>
                  <a:srgbClr val="F1F5F9"/>
                </a:solidFill>
              </a:rPr>
              <a:t>Complete catalog management, automatic updates of cost/sale margins, and instant price syncing across POS checkouts and invoice registers.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Stock Management Control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72768"/>
            <a:ext cx="5632704" cy="4535424"/>
          </a:xfrm>
          <a:prstGeom prst="rect">
            <a:avLst/>
          </a:prstGeom>
          <a:solidFill>
            <a:srgbClr val="141B36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4864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645920"/>
            <a:ext cx="5102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Reorder Threshold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6344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How it works: </a:t>
            </a:r>
            <a:r>
              <a:rPr b="0">
                <a:solidFill>
                  <a:srgbClr val="F1F5F9"/>
                </a:solidFill>
              </a:rPr>
              <a:t>Displays total stock values, shop inventory valuations, warehouse counts, low stock lists, and active incoming orders.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Backend/Frontend Attachment: </a:t>
            </a:r>
            <a:r>
              <a:rPr b="0">
                <a:solidFill>
                  <a:srgbClr val="F1F5F9"/>
                </a:solidFill>
              </a:rPr>
              <a:t>Fetches data from `/api/stock/status/`. Editing the low stock threshold updates the backend rule `/api/stock/settings/` immediately.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Outcomes: </a:t>
            </a:r>
            <a:r>
              <a:rPr b="0">
                <a:solidFill>
                  <a:srgbClr val="F1F5F9"/>
                </a:solidFill>
              </a:rPr>
              <a:t>Prevents stockouts by flagging low stock items dynamically, updates inventory value, and tracks incoming warehouse logs.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Warehouse Stock &amp; Procurement Modals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72768"/>
            <a:ext cx="2798064" cy="4535424"/>
          </a:xfrm>
          <a:prstGeom prst="rect">
            <a:avLst/>
          </a:prstGeom>
          <a:solidFill>
            <a:srgbClr val="141B36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265176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47288" y="1572768"/>
            <a:ext cx="2798064" cy="4535424"/>
          </a:xfrm>
          <a:prstGeom prst="rect">
            <a:avLst/>
          </a:prstGeom>
          <a:solidFill>
            <a:srgbClr val="141B36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7-19 0120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645920"/>
            <a:ext cx="265176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Granular Stock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How it works: </a:t>
            </a:r>
            <a:r>
              <a:rPr b="0">
                <a:solidFill>
                  <a:srgbClr val="F1F5F9"/>
                </a:solidFill>
              </a:rPr>
              <a:t>Details modal windows overlaying the stock dashboard to show product lists filtered by category (Warehouse breakdown) and pending supplier shipments (Incoming breakdown).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Backend/Frontend Attachment: </a:t>
            </a:r>
            <a:r>
              <a:rPr b="0">
                <a:solidFill>
                  <a:srgbClr val="F1F5F9"/>
                </a:solidFill>
              </a:rPr>
              <a:t>React hooks query `/api/stock/warehouse-breakdown/` and `/api/procurement/pending-breakdown/` views.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Outcomes: </a:t>
            </a:r>
            <a:r>
              <a:rPr b="0">
                <a:solidFill>
                  <a:srgbClr val="F1F5F9"/>
                </a:solidFill>
              </a:rPr>
              <a:t>Complete routing traceability of product locations, precise pending delivery schedules, and zero-error stock counts.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Sales Transactions &amp; Ingestion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72768"/>
            <a:ext cx="5632704" cy="4535424"/>
          </a:xfrm>
          <a:prstGeom prst="rect">
            <a:avLst/>
          </a:prstGeom>
          <a:solidFill>
            <a:srgbClr val="141B36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4864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645920"/>
            <a:ext cx="5102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Transaction Logging &amp; PDF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6344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How it works: </a:t>
            </a:r>
            <a:r>
              <a:rPr b="0">
                <a:solidFill>
                  <a:srgbClr val="F1F5F9"/>
                </a:solidFill>
              </a:rPr>
              <a:t>Visualizes daily sales volumes against target benchmarks and lists detailed searchable logs of customer invoice references, product codes, margins, and payment methods.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Backend/Frontend Attachment: </a:t>
            </a:r>
            <a:r>
              <a:rPr b="0">
                <a:solidFill>
                  <a:srgbClr val="F1F5F9"/>
                </a:solidFill>
              </a:rPr>
              <a:t>Renders paginated listings from `/api/sales/transactions/`. Dragging/uploading sales billing records calls the parser REST API backend.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Outcomes: </a:t>
            </a:r>
            <a:r>
              <a:rPr b="0">
                <a:solidFill>
                  <a:srgbClr val="F1F5F9"/>
                </a:solidFill>
              </a:rPr>
              <a:t>Searchable logs, historical audit trails, and dynamic data ingestion to update charts and general ledgers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Supplier Ordered Slips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72768"/>
            <a:ext cx="5632704" cy="4535424"/>
          </a:xfrm>
          <a:prstGeom prst="rect">
            <a:avLst/>
          </a:prstGeom>
          <a:solidFill>
            <a:srgbClr val="141B36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4864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645920"/>
            <a:ext cx="5102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Procurement Order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6344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How it works: </a:t>
            </a:r>
            <a:r>
              <a:rPr b="0">
                <a:solidFill>
                  <a:srgbClr val="F1F5F9"/>
                </a:solidFill>
              </a:rPr>
              <a:t>Manages supplier order slips, displaying items, ordered/received ratios, costs, and statuses (Pending, Completed, or Partial).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Backend/Frontend Attachment: </a:t>
            </a:r>
            <a:r>
              <a:rPr b="0">
                <a:solidFill>
                  <a:srgbClr val="F1F5F9"/>
                </a:solidFill>
              </a:rPr>
              <a:t>Frontend calls `/api/procurement/slips/` viewset. Clicking 'Mark Partial' sends a update request to adjust pending quantity balances.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Outcomes: </a:t>
            </a:r>
            <a:r>
              <a:rPr b="0">
                <a:solidFill>
                  <a:srgbClr val="F1F5F9"/>
                </a:solidFill>
              </a:rPr>
              <a:t>Enables managers to audit procurement deliveries, download generated slip PDFs, and verify received stock before adding it to active inventory.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AI Chatbot Assistant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572768"/>
            <a:ext cx="5632704" cy="4535424"/>
          </a:xfrm>
          <a:prstGeom prst="rect">
            <a:avLst/>
          </a:prstGeom>
          <a:solidFill>
            <a:srgbClr val="141B36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7-19 01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4864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645920"/>
            <a:ext cx="5102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736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Agentic Function Calling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66344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How it works: </a:t>
            </a:r>
            <a:r>
              <a:rPr b="0">
                <a:solidFill>
                  <a:srgbClr val="F1F5F9"/>
                </a:solidFill>
              </a:rPr>
              <a:t>A natural language assistant that answers questions about database records (e.g. sales trends, unpaid invoices, low stock items) and builds visual graphs directly in chat.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Backend/Frontend Attachment: </a:t>
            </a:r>
            <a:r>
              <a:rPr b="0">
                <a:solidFill>
                  <a:srgbClr val="F1F5F9"/>
                </a:solidFill>
              </a:rPr>
              <a:t>Integrates the Groq API via `/api/chatbot/query/` using RAG. The system exposes tool specifications allowing Llama 3.3 to execute functions locally to query real data.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Outcomes: </a:t>
            </a:r>
            <a:r>
              <a:rPr b="0">
                <a:solidFill>
                  <a:srgbClr val="F1F5F9"/>
                </a:solidFill>
              </a:rPr>
              <a:t>Instant operational reporting, conversational graphs, and accessible KPI indicators without manually navigating panels.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Latest Modification: Direct Stock Purchase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Operational Direct Stock Input Modal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Record Stock Instantly: </a:t>
            </a:r>
            <a:r>
              <a:rPr b="0">
                <a:solidFill>
                  <a:srgbClr val="F1F5F9"/>
                </a:solidFill>
              </a:rPr>
              <a:t>Allows immediate receipt logging when shopkeepers buy stock directly (e.g., calling suppliers rather than ordering through slips).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Two Operational Modes: </a:t>
            </a:r>
            <a:r>
              <a:rPr b="0">
                <a:solidFill>
                  <a:srgbClr val="F1F5F9"/>
                </a:solidFill>
              </a:rPr>
              <a:t>Supports select from 'Existing Catalog Product' or register 'New Custom Product' directly.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Pack and Cartons Sizing: </a:t>
            </a:r>
            <a:r>
              <a:rPr b="0">
                <a:solidFill>
                  <a:srgbClr val="F1F5F9"/>
                </a:solidFill>
              </a:rPr>
              <a:t>Dynamically configures 'Pieces Per Pack' to calculate cost per single unit and update inventory counts.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Dynamic Catalog Synchronization: </a:t>
            </a:r>
            <a:r>
              <a:rPr b="0">
                <a:solidFill>
                  <a:srgbClr val="F1F5F9"/>
                </a:solidFill>
              </a:rPr>
              <a:t>If cost, selling price, or pack sizing are altered on saving, the product catalog entry is automatically updated.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Dynamic Backend Integration &amp;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Double-Entry LEDGER Postings: </a:t>
            </a:r>
            <a:r>
              <a:rPr b="0">
                <a:solidFill>
                  <a:srgbClr val="F1F5F9"/>
                </a:solidFill>
              </a:rPr>
              <a:t>Atomically credits cash/payable accounts and debits COGS (5010) or Inventory assets upon purchase creation.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Location-Based Routing Signals: </a:t>
            </a:r>
            <a:r>
              <a:rPr b="0">
                <a:solidFill>
                  <a:srgbClr val="F1F5F9"/>
                </a:solidFill>
              </a:rPr>
              <a:t>Django post-save signals check `delivery_location` to route incoming stock directly to Warehouse or Shop Outlet.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Multi-Choice Search Fallback: </a:t>
            </a:r>
            <a:r>
              <a:rPr b="0">
                <a:solidFill>
                  <a:srgbClr val="F1F5F9"/>
                </a:solidFill>
              </a:rPr>
              <a:t>If shopkeepers type partial SKU or ID terms (like searching '123' matching 'PEP-BUG-123'), a modal displays matching choices to prevent duplicate entries.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Latest Modification: AI PDF Invoice Upload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AI-Driven Document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Optical Character Recognition (OCR): </a:t>
            </a:r>
            <a:r>
              <a:rPr b="0">
                <a:solidFill>
                  <a:srgbClr val="F1F5F9"/>
                </a:solidFill>
              </a:rPr>
              <a:t>Parses uploaded PDF invoice documents directly on the client side.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AI Semantic Mapper: </a:t>
            </a:r>
            <a:r>
              <a:rPr b="0">
                <a:solidFill>
                  <a:srgbClr val="F1F5F9"/>
                </a:solidFill>
              </a:rPr>
              <a:t>Django REST API receives raw text extraction and prompts OpenAI GPT models to map fields (Item Name, SKU, quantities, cost).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Error Tolerant Parsing: </a:t>
            </a:r>
            <a:r>
              <a:rPr b="0">
                <a:solidFill>
                  <a:srgbClr val="F1F5F9"/>
                </a:solidFill>
              </a:rPr>
              <a:t>Case-insensitive fuzzy matching reconciles scanned names with existing catalog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Database Automation &amp;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94560"/>
            <a:ext cx="4754880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Automatic Stock Entry: </a:t>
            </a:r>
            <a:r>
              <a:rPr b="0">
                <a:solidFill>
                  <a:srgbClr val="F1F5F9"/>
                </a:solidFill>
              </a:rPr>
              <a:t>Confirms and pushes scanned items directly to inventory (warehouse/shop) using bulk-created ledger signals.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Journal Expense Recognition: </a:t>
            </a:r>
            <a:r>
              <a:rPr b="0">
                <a:solidFill>
                  <a:srgbClr val="F1F5F9"/>
                </a:solidFill>
              </a:rPr>
              <a:t>Automatically posts the PDF invoice totals as expenses in the Chart of Accounts.</a:t>
            </a:r>
          </a:p>
          <a:p>
            <a:pPr>
              <a:spcAft>
                <a:spcPts val="600"/>
              </a:spcAft>
              <a:defRPr sz="14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Operational Value: </a:t>
            </a:r>
            <a:r>
              <a:rPr b="0">
                <a:solidFill>
                  <a:srgbClr val="F1F5F9"/>
                </a:solidFill>
              </a:rPr>
              <a:t>Reduces manual data entry time from 15 minutes per invoice to a single click, eliminating typist errors.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Data Portability &amp; Porting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Self-Contained SQLite Backups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Database Portability: </a:t>
            </a:r>
            <a:r>
              <a:rPr b="0">
                <a:solidFill>
                  <a:srgbClr val="F1F5F9"/>
                </a:solidFill>
              </a:rPr>
              <a:t>All records (products, transactions, cash flows, user credentials) are saved in a single, robust file named `db.sqlite3`.</a:t>
            </a:r>
          </a:p>
          <a:p>
            <a:pPr>
              <a:spcAft>
                <a:spcPts val="6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Physical Isolation: </a:t>
            </a:r>
            <a:r>
              <a:rPr b="0">
                <a:solidFill>
                  <a:srgbClr val="F1F5F9"/>
                </a:solidFill>
              </a:rPr>
              <a:t>The database resides inside the `_internal` subdirectory of the compiled standalone package.</a:t>
            </a:r>
          </a:p>
          <a:p>
            <a:pPr>
              <a:spcAft>
                <a:spcPts val="6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Simple Copy-Paste Backup: </a:t>
            </a:r>
            <a:r>
              <a:rPr b="0">
                <a:solidFill>
                  <a:srgbClr val="F1F5F9"/>
                </a:solidFill>
              </a:rPr>
              <a:t>Users can back up their entire store database by making a duplicate copy of `db.sqlite3`.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Procedure for Updating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94560"/>
            <a:ext cx="4663440" cy="3474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1. Copy Old DB: </a:t>
            </a:r>
            <a:r>
              <a:rPr b="0">
                <a:solidFill>
                  <a:srgbClr val="F1F5F9"/>
                </a:solidFill>
              </a:rPr>
              <a:t>Go to the old folder and copy `BizionaryERP/_internal/db.sqlite3`.</a:t>
            </a:r>
          </a:p>
          <a:p>
            <a:pPr>
              <a:spcAft>
                <a:spcPts val="6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2. Extract New Version: </a:t>
            </a:r>
            <a:r>
              <a:rPr b="0">
                <a:solidFill>
                  <a:srgbClr val="F1F5F9"/>
                </a:solidFill>
              </a:rPr>
              <a:t>Extract the updated compiled zip package.</a:t>
            </a:r>
          </a:p>
          <a:p>
            <a:pPr>
              <a:spcAft>
                <a:spcPts val="6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3. Replace Template: </a:t>
            </a:r>
            <a:r>
              <a:rPr b="0">
                <a:solidFill>
                  <a:srgbClr val="F1F5F9"/>
                </a:solidFill>
              </a:rPr>
              <a:t>Paste the copied `db.sqlite3` file into the new `_internal` directory, replacing the blank database.</a:t>
            </a:r>
          </a:p>
          <a:p>
            <a:pPr>
              <a:spcAft>
                <a:spcPts val="6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4. Run Launcher: </a:t>
            </a:r>
            <a:r>
              <a:rPr b="0">
                <a:solidFill>
                  <a:srgbClr val="F1F5F9"/>
                </a:solidFill>
              </a:rPr>
              <a:t>Double-click the launch script; all historical records will load immediately.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BIZIONARY ERP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2009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17352" cy="4389120"/>
          </a:xfrm>
          <a:prstGeom prst="roundRect">
            <a:avLst/>
          </a:prstGeom>
          <a:solidFill>
            <a:srgbClr val="141B36"/>
          </a:solidFill>
          <a:ln w="19050">
            <a:solidFill>
              <a:srgbClr val="1E2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Scalability &amp; Product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0152" cy="3566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6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Multi-Tenant SaaS Support: </a:t>
            </a:r>
            <a:r>
              <a:rPr b="0">
                <a:solidFill>
                  <a:srgbClr val="F1F5F9"/>
                </a:solidFill>
              </a:rPr>
              <a:t>Transition the current single-enterprise design to support multi-tenant user bases, permitting multiple businesses to register and manage their operations independently.</a:t>
            </a:r>
          </a:p>
          <a:p>
            <a:pPr>
              <a:spcAft>
                <a:spcPts val="6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Hardware Integration: </a:t>
            </a:r>
            <a:r>
              <a:rPr b="0">
                <a:solidFill>
                  <a:srgbClr val="F1F5F9"/>
                </a:solidFill>
              </a:rPr>
              <a:t>Build direct interfaces for POS peripheral devices, including barcode scanners, receipt thermal printers, and electronic cash drawers.</a:t>
            </a:r>
          </a:p>
          <a:p>
            <a:pPr>
              <a:spcAft>
                <a:spcPts val="6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Notifications Pipeline: </a:t>
            </a:r>
            <a:r>
              <a:rPr b="0">
                <a:solidFill>
                  <a:srgbClr val="F1F5F9"/>
                </a:solidFill>
              </a:rPr>
              <a:t>Connect SMS (Twilio) and Email (SendGrid) triggers to dynamically alert suppliers on low stock, send invoice reminders to customers, and email managers financial summaries.</a:t>
            </a:r>
          </a:p>
          <a:p>
            <a:pPr>
              <a:spcAft>
                <a:spcPts val="600"/>
              </a:spcAft>
              <a:defRPr sz="16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Extended AI Capabilities: </a:t>
            </a:r>
            <a:r>
              <a:rPr b="0">
                <a:solidFill>
                  <a:srgbClr val="F1F5F9"/>
                </a:solidFill>
              </a:rPr>
              <a:t>Build deep learning models for advanced predictive demand forecasting based on external seasonal events, market trends, and historic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20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400">
                <a:solidFill>
                  <a:srgbClr val="2DD4BF"/>
                </a:solidFill>
                <a:latin typeface="Segoe UI"/>
              </a:defRPr>
            </a:pPr>
            <a:r>
              <a:t>Questions &amp; Answers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