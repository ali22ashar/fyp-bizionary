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Segoe UI"/>
              </a:defRPr>
            </a:pPr>
            <a:r>
              <a:t>BIZIONARY ERP SYSTEM</a:t>
            </a:r>
          </a:p>
          <a:p>
            <a:pPr>
              <a:spcBef>
                <a:spcPts val="800"/>
              </a:spcBef>
              <a:defRPr sz="2000">
                <a:solidFill>
                  <a:srgbClr val="2DD4BF"/>
                </a:solidFill>
                <a:latin typeface="Segoe UI"/>
              </a:defRPr>
            </a:pPr>
            <a:r>
              <a:t>A Secure, Agentic AI-Enabled Enterprise Resource Planning Platform for 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Corporate Ledgers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Relational database schemas.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Double-entry ledger logs.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Automatic stock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AI-Driven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Groq Llama 3.3 chatbot.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NLP pricing recommendations.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Stock velocity demand forecast.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526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Dynamic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Drag &amp; Drop sales PDF upload.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Monthly Excel parser.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Zero-downtime key rotation.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Problem vs. The Bizionary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SME Operational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 Silos: </a:t>
            </a:r>
            <a:r>
              <a:rPr b="0">
                <a:solidFill>
                  <a:srgbClr val="F1F5F9"/>
                </a:solidFill>
              </a:rPr>
              <a:t>Using paper bills and offline sheets causes inventory mismatch.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Auditing: </a:t>
            </a:r>
            <a:r>
              <a:rPr b="0">
                <a:solidFill>
                  <a:srgbClr val="F1F5F9"/>
                </a:solidFill>
              </a:rPr>
              <a:t>Database changes are done without logs, leading to errors.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Real-time Profit View: </a:t>
            </a:r>
            <a:r>
              <a:rPr b="0">
                <a:solidFill>
                  <a:srgbClr val="F1F5F9"/>
                </a:solidFill>
              </a:rPr>
              <a:t>Creating financial statements takes weeks.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Bad Restock Habits: </a:t>
            </a:r>
            <a:r>
              <a:rPr b="0">
                <a:solidFill>
                  <a:srgbClr val="F1F5F9"/>
                </a:solidFill>
              </a:rPr>
              <a:t>Checking stock by hand leads to out-of-stock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The Integrated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One Database: </a:t>
            </a:r>
            <a:r>
              <a:rPr b="0">
                <a:solidFill>
                  <a:srgbClr val="F1F5F9"/>
                </a:solidFill>
              </a:rPr>
              <a:t>Connects Sales, Purchases, Ledgers, and stock in one place.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 Journals: </a:t>
            </a:r>
            <a:r>
              <a:rPr b="0">
                <a:solidFill>
                  <a:srgbClr val="F1F5F9"/>
                </a:solidFill>
              </a:rPr>
              <a:t>Database signals save debit/credit journals automatically.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Sub-Second AI Help: </a:t>
            </a:r>
            <a:r>
              <a:rPr b="0">
                <a:solidFill>
                  <a:srgbClr val="F1F5F9"/>
                </a:solidFill>
              </a:rPr>
              <a:t>Chatbot queries the live DB to show reports.</a:t>
            </a:r>
          </a:p>
          <a:p>
            <a:pPr>
              <a:spcAft>
                <a:spcPts val="4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Auto-Ingest: </a:t>
            </a:r>
            <a:r>
              <a:rPr b="0">
                <a:solidFill>
                  <a:srgbClr val="F1F5F9"/>
                </a:solidFill>
              </a:rPr>
              <a:t>Drag-and-drop Excel or PDFs to update inventory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Enterprise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React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FRONTEND SPA</a:t>
            </a:r>
            <a:br/>
            <a:br/>
            <a:r>
              <a:t>• React 19.2 (Vite)</a:t>
            </a:r>
            <a:br/>
            <a:r>
              <a:t>• Tailwind CSS v4</a:t>
            </a:r>
            <a:br/>
            <a:r>
              <a:t>• Lucide Icons</a:t>
            </a:r>
            <a:br/>
            <a:r>
              <a:t>• Recharts graphs</a:t>
            </a:r>
            <a:br/>
            <a:r>
              <a:t>• jsPDF downloads</a:t>
            </a:r>
            <a:br/>
            <a:r>
              <a:t>• HTML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Django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APPLICATION CORE</a:t>
            </a:r>
            <a:br/>
            <a:br/>
            <a:r>
              <a:t>• Django 4.2.7 Core</a:t>
            </a:r>
            <a:br/>
            <a:r>
              <a:t>• REST Framework</a:t>
            </a:r>
            <a:br/>
            <a:r>
              <a:t>• JWT Stateless Auth</a:t>
            </a:r>
            <a:br/>
            <a:r>
              <a:t>• post_save Signals</a:t>
            </a:r>
            <a:br/>
            <a:r>
              <a:t>• CORS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Cognitive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INTELLIGENT LAYER</a:t>
            </a:r>
            <a:br/>
            <a:br/>
            <a:r>
              <a:t>• Groq SDK</a:t>
            </a:r>
            <a:br/>
            <a:r>
              <a:t>• Llama 3.3 Engine</a:t>
            </a:r>
            <a:br/>
            <a:r>
              <a:t>• Function Calling</a:t>
            </a:r>
            <a:br/>
            <a:r>
              <a:t>• OpenAI API GPT</a:t>
            </a:r>
            <a:br/>
            <a:r>
              <a:t>• Sentiment Analysis</a:t>
            </a:r>
            <a:br/>
            <a:r>
              <a:t>• Predictive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Data &amp; Ingestion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194560"/>
            <a:ext cx="173736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ANALYSIS &amp; STORAGE</a:t>
            </a:r>
            <a:br/>
            <a:br/>
            <a:r>
              <a:t>• SQLite 3 (Local)</a:t>
            </a:r>
            <a:br/>
            <a:r>
              <a:t>• PostgreSQL (Cloud)</a:t>
            </a:r>
            <a:br/>
            <a:r>
              <a:t>• Pandas parser</a:t>
            </a:r>
            <a:br/>
            <a:r>
              <a:t>• openpyxl Engine</a:t>
            </a:r>
            <a:br/>
            <a:r>
              <a:t>• DB Cache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45920"/>
            <a:ext cx="21305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783080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2194560"/>
            <a:ext cx="1856231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DEPLOYMENT</a:t>
            </a:r>
            <a:br/>
            <a:br/>
            <a:r>
              <a:t>• Vercel Edge CDN</a:t>
            </a:r>
            <a:br/>
            <a:r>
              <a:t>• Railway API host</a:t>
            </a:r>
            <a:br/>
            <a:r>
              <a:t>• Docker runtimes</a:t>
            </a:r>
            <a:br/>
            <a:r>
              <a:t>• PyInstaller build</a:t>
            </a:r>
            <a:br/>
            <a:r>
              <a:t>• Windows standalone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Project Components &amp; Data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200400" cy="3657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Frontend (React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60320"/>
            <a:ext cx="292608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Visual Screens:</a:t>
            </a:r>
            <a:br/>
            <a:r>
              <a:t>• Executive Dashboard</a:t>
            </a:r>
            <a:br/>
            <a:r>
              <a:t>• POS Scan Form &amp; Ingestion</a:t>
            </a:r>
            <a:br/>
            <a:r>
              <a:t>• Stock Modals &amp; Calculations</a:t>
            </a:r>
            <a:br/>
            <a:br/>
            <a:r>
              <a:t>Mechanism:</a:t>
            </a:r>
            <a:br/>
            <a:r>
              <a:t>• Asynchronous Axios clients</a:t>
            </a:r>
            <a:br/>
            <a:r>
              <a:t>• JWT Bearer Auth tokens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347472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00400" cy="36576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2. Django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560320"/>
            <a:ext cx="292608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Segoe UI"/>
              </a:defRPr>
            </a:pPr>
            <a:r>
              <a:t>Endpoints Viewsets:</a:t>
            </a:r>
            <a:br/>
            <a:r>
              <a:t>• `/api/dashboard/summary/`</a:t>
            </a:r>
            <a:br/>
            <a:r>
              <a:t>• `/api/sales/transactions/`</a:t>
            </a:r>
            <a:br/>
            <a:r>
              <a:t>• `/api/chatbot/query/`</a:t>
            </a:r>
            <a:br/>
            <a:br/>
            <a:r>
              <a:t>Event Triggers:</a:t>
            </a:r>
            <a:br/>
            <a:r>
              <a:t>• Django DB Signals (COGS, cash flows, inventory items mapping)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2400" y="274320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72400" y="4206240"/>
            <a:ext cx="640080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3200400" cy="201168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3. Relational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103120"/>
            <a:ext cx="292608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  <a:latin typeface="Segoe UI"/>
              </a:defRPr>
            </a:pPr>
            <a:r>
              <a:t>• SQLite 3 local storage</a:t>
            </a:r>
            <a:br/>
            <a:r>
              <a:t>• PostgreSQL database structure</a:t>
            </a:r>
            <a:br/>
            <a:r>
              <a:t>• Double-entry journal 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931920"/>
            <a:ext cx="3200400" cy="201168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4. AI Layer (Groq &amp; OpenAI)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4389120"/>
            <a:ext cx="292608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1F5F9"/>
                </a:solidFill>
                <a:latin typeface="Segoe UI"/>
              </a:defRPr>
            </a:pPr>
            <a:r>
              <a:t>• Groq Llama 3.3 chatbot agent</a:t>
            </a:r>
            <a:br/>
            <a:r>
              <a:t>• Local function calling mapping</a:t>
            </a:r>
            <a:br/>
            <a:r>
              <a:t>• OpenAI sentiment and OCR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Master Data &amp; 6-Month Sales Seeding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Step 1: Master Catalog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Initial Data Setup:</a:t>
            </a:r>
            <a:br/>
            <a:r>
              <a:t>• Exposes real catalogs of items, standard purchase costs, supplier profiles, and categories.</a:t>
            </a:r>
            <a:br/>
            <a:r>
              <a:t>• Registers items like Beverages, Grocery, Pharmaceuticals, and Stationery.</a:t>
            </a:r>
            <a:br/>
            <a:r>
              <a:t>• Pre-defines minimum stock thresholds for alert triggers.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Step 2: Seeding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Seeding Logic:</a:t>
            </a:r>
            <a:br/>
            <a:r>
              <a:t>• Executes script `seed_historical_sales.py` to generate sample logs.</a:t>
            </a:r>
            <a:br/>
            <a:r>
              <a:t>• Seeds data across multiple calendar months (e.g. January to April 2026).</a:t>
            </a:r>
            <a:br/>
            <a:r>
              <a:t>• Simulates random order sizes (1-8 pcs) and standard payment methods.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3044952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770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Step 3: Outcome &amp;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286000"/>
            <a:ext cx="2770632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Outcome Results:</a:t>
            </a:r>
            <a:br/>
            <a:r>
              <a:t>• Generates 6 months of sales history representing over 100+ transactions.</a:t>
            </a:r>
            <a:br/>
            <a:r>
              <a:t>• Populates dashboard insights with real trending sales velocity curves.</a:t>
            </a:r>
            <a:br/>
            <a:r>
              <a:t>• Enables AI analytics to test demand forecasts, profit summaries, and reorder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Executive Dashboard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Executive Summary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Overview: </a:t>
            </a:r>
            <a:r>
              <a:rPr b="0">
                <a:solidFill>
                  <a:srgbClr val="F1F5F9"/>
                </a:solidFill>
              </a:rPr>
              <a:t>Displays total sales, expenses, net profits, and inventory value.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Quick Buttons: </a:t>
            </a:r>
            <a:r>
              <a:rPr b="0">
                <a:solidFill>
                  <a:srgbClr val="F1F5F9"/>
                </a:solidFill>
              </a:rPr>
              <a:t>Easily add products, register suppliers, or log adjustments.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Open Screen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Fetch Stats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Show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Sales Performance Insights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Interactive Sales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Charts: </a:t>
            </a:r>
            <a:r>
              <a:rPr b="0">
                <a:solidFill>
                  <a:srgbClr val="F1F5F9"/>
                </a:solidFill>
              </a:rPr>
              <a:t>Shows categories sold (stacked bars) and revenue trends (lines).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Filtering: </a:t>
            </a:r>
            <a:r>
              <a:rPr b="0">
                <a:solidFill>
                  <a:srgbClr val="F1F5F9"/>
                </a:solidFill>
              </a:rPr>
              <a:t>Toggle days to filter trends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Pick Period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Group Dates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Recharts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Accounts &amp; Financial Ledger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Double-Entry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Financial Tabs: </a:t>
            </a:r>
            <a:r>
              <a:rPr b="0">
                <a:solidFill>
                  <a:srgbClr val="F1F5F9"/>
                </a:solidFill>
              </a:rPr>
              <a:t>View Revenues, Expenses, Utility Bills, and statement logs.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Reconciliation: </a:t>
            </a:r>
            <a:r>
              <a:rPr b="0">
                <a:solidFill>
                  <a:srgbClr val="F1F5F9"/>
                </a:solidFill>
              </a:rPr>
              <a:t>Simple button to verify debits equal credits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Log 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Signals 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Ledger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Product Catalog &amp; Custom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Inventory Catalog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Grid List: </a:t>
            </a:r>
            <a:r>
              <a:rPr b="0">
                <a:solidFill>
                  <a:srgbClr val="F1F5F9"/>
                </a:solidFill>
              </a:rPr>
              <a:t>Shows catalog product SKUs, prices, margins, and active status.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Custom Columns: </a:t>
            </a:r>
            <a:r>
              <a:rPr b="0">
                <a:solidFill>
                  <a:srgbClr val="F1F5F9"/>
                </a:solidFill>
              </a:rPr>
              <a:t>Create extra fields for specific categories dynamically.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Add Columns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Alter Schema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Update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Stock Management Control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Reorder Alerts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Valuations: </a:t>
            </a:r>
            <a:r>
              <a:rPr b="0">
                <a:solidFill>
                  <a:srgbClr val="F1F5F9"/>
                </a:solidFill>
              </a:rPr>
              <a:t>Tracks shop retail value vs. warehouse stock valuations.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Alerts: </a:t>
            </a:r>
            <a:r>
              <a:rPr b="0">
                <a:solidFill>
                  <a:srgbClr val="F1F5F9"/>
                </a:solidFill>
              </a:rPr>
              <a:t>Highlights items where stock quantity is below safety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Check Stock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Compare Limit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Trigger Alert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Warehouse Stock &amp; Incoming Modals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Stock Locations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Location Splitting: </a:t>
            </a:r>
            <a:r>
              <a:rPr b="0">
                <a:solidFill>
                  <a:srgbClr val="F1F5F9"/>
                </a:solidFill>
              </a:rPr>
              <a:t>Traces items inside the warehouse vs. items in shop.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Incoming Orders: </a:t>
            </a:r>
            <a:r>
              <a:rPr b="0">
                <a:solidFill>
                  <a:srgbClr val="F1F5F9"/>
                </a:solidFill>
              </a:rPr>
              <a:t>List of pending items ordered from supplier shipments.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Select Item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Query Location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Display Modal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Sales Transactions &amp; Ingestion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Transactions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Logs: </a:t>
            </a:r>
            <a:r>
              <a:rPr b="0">
                <a:solidFill>
                  <a:srgbClr val="F1F5F9"/>
                </a:solidFill>
              </a:rPr>
              <a:t>Search and filter complete logs of customer sales and margins.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Auto-Ingest: </a:t>
            </a:r>
            <a:r>
              <a:rPr b="0">
                <a:solidFill>
                  <a:srgbClr val="F1F5F9"/>
                </a:solidFill>
              </a:rPr>
              <a:t>Drag-and-drop Excel sheets to parse transactions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Import Sheet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Pandas Parser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Log Sale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Supplier Ordered Slips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Procurement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Tracking: </a:t>
            </a:r>
            <a:r>
              <a:rPr b="0">
                <a:solidFill>
                  <a:srgbClr val="F1F5F9"/>
                </a:solidFill>
              </a:rPr>
              <a:t>Monitor supplier slips, quantities, total sums, and pending statuses.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Stock-in: </a:t>
            </a:r>
            <a:r>
              <a:rPr b="0">
                <a:solidFill>
                  <a:srgbClr val="F1F5F9"/>
                </a:solidFill>
              </a:rPr>
              <a:t>Easily mark items as received to update inventories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Mark Received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Update Slip Ratio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Inflow Stock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Chatbot Assistant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Agentic AI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RAG Agent: </a:t>
            </a:r>
            <a:r>
              <a:rPr b="0">
                <a:solidFill>
                  <a:srgbClr val="F1F5F9"/>
                </a:solidFill>
              </a:rPr>
              <a:t>Answers questions on invoices, stock alerts, and revenues.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Quick Shortcuts: </a:t>
            </a:r>
            <a:r>
              <a:rPr b="0">
                <a:solidFill>
                  <a:srgbClr val="F1F5F9"/>
                </a:solidFill>
              </a:rPr>
              <a:t>One-click buttons to check margins or display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User Prompt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Groq Tool Use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Local Python DB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Pack &amp; Carton Price Calculator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69058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Pack Dynamics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Inputs: </a:t>
            </a:r>
            <a:r>
              <a:rPr b="0">
                <a:solidFill>
                  <a:srgbClr val="F1F5F9"/>
                </a:solidFill>
              </a:rPr>
              <a:t>Configure product single unit selling prices and carton multipliers.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Profit Projections: </a:t>
            </a:r>
            <a:r>
              <a:rPr b="0">
                <a:solidFill>
                  <a:srgbClr val="F1F5F9"/>
                </a:solidFill>
              </a:rPr>
              <a:t>Displays expected net revenue and margins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Enter Quantity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React State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Compute Profit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Direct Stock Purchase (Latest Modification)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6944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Direct Inflow Ledger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Stock Intake: </a:t>
            </a:r>
            <a:r>
              <a:rPr b="0">
                <a:solidFill>
                  <a:srgbClr val="F1F5F9"/>
                </a:solidFill>
              </a:rPr>
              <a:t>Log supplier purchases directly to shop or warehouse stock.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Custom Pack Sizes: </a:t>
            </a:r>
            <a:r>
              <a:rPr b="0">
                <a:solidFill>
                  <a:srgbClr val="F1F5F9"/>
                </a:solidFill>
              </a:rPr>
              <a:t>Input unit cost and packs to update catalogs.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Select Product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Route Location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Signal Stock 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 Sales Slip PDF Upload / Bulk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609344"/>
            <a:ext cx="7388352" cy="4462272"/>
          </a:xfrm>
          <a:prstGeom prst="rect">
            <a:avLst/>
          </a:prstGeom>
          <a:solidFill>
            <a:srgbClr val="141B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44571997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77647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783080"/>
            <a:ext cx="3502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AI-Driven Parser Modal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47472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Upload PDF: </a:t>
            </a:r>
            <a:r>
              <a:rPr b="0">
                <a:solidFill>
                  <a:srgbClr val="F1F5F9"/>
                </a:solidFill>
              </a:rPr>
              <a:t>Extracts item name, quantities, and cost automatically.</a:t>
            </a:r>
          </a:p>
          <a:p>
            <a:pPr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Fuzzy Matcher: </a:t>
            </a:r>
            <a:r>
              <a:rPr b="0">
                <a:solidFill>
                  <a:srgbClr val="F1F5F9"/>
                </a:solidFill>
              </a:rPr>
              <a:t>AI maps scanned invoice details to existing catalog SKUs.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1. Upload File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592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2. OpenAI Extract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14432" y="4279392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24744" y="4114800"/>
            <a:ext cx="960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bIns="0" rIns="0"/>
          <a:lstStyle/>
          <a:p>
            <a:pPr algn="ctr">
              <a:defRPr sz="850" b="1">
                <a:solidFill>
                  <a:srgbClr val="F1F5F9"/>
                </a:solidFill>
                <a:latin typeface="Segoe UI"/>
              </a:defRPr>
            </a:pPr>
            <a:r>
              <a:t>3. Record Sales DB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Standalone Desktop Executable (.exe)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Vite React Compilation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1: Frontend Build:</a:t>
            </a:r>
            <a:br/>
            <a:r>
              <a:t>• Cleans former build outputs.</a:t>
            </a:r>
            <a:br/>
            <a:r>
              <a:t>• Bundles static HTML, CSS, and JS components using Vite compiler.</a:t>
            </a:r>
            <a:br/>
            <a:r>
              <a:t>• Optimizes asset trees to generate single-page static distribution directories.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Django Ledger Migration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286000"/>
            <a:ext cx="3200400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2: Database Preparation:</a:t>
            </a:r>
            <a:br/>
            <a:r>
              <a:t>• Runs Django model checkups and applies migrations to build a blank SQLite database schema.</a:t>
            </a:r>
            <a:br/>
            <a:r>
              <a:t>• Collects static bundles using python command-line scripts.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347472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3044952" cy="411480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770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  <a:latin typeface="Segoe UI"/>
              </a:defRPr>
            </a:pPr>
            <a:r>
              <a:t>PyInstaller Executable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286000"/>
            <a:ext cx="2770632" cy="347472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Step 3: Packaged Binary:</a:t>
            </a:r>
            <a:br/>
            <a:r>
              <a:t>• Invokes PyInstaller compiler wrapping `run_server.py` and embedding Python DLLs and sqlite schemas.</a:t>
            </a:r>
            <a:br/>
            <a:r>
              <a:t>• Generates a standalone double-clickable `BizionaryERP_Windows.zip` archive containing the local runner.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Data Portability &amp; 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Self-Contained SQLite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Database Portability: </a:t>
            </a:r>
            <a:r>
              <a:rPr b="0">
                <a:solidFill>
                  <a:srgbClr val="F1F5F9"/>
                </a:solidFill>
              </a:rPr>
              <a:t>All records (products, transactions, cash flows, user credentials) are saved in a single, robust file named `db.sqlite3`.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Physical Isolation: </a:t>
            </a:r>
            <a:r>
              <a:rPr b="0">
                <a:solidFill>
                  <a:srgbClr val="F1F5F9"/>
                </a:solidFill>
              </a:rPr>
              <a:t>The database resides inside the `_internal` subdirectory of the compiled standalone package.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Simple Copy-Paste Backup: </a:t>
            </a:r>
            <a:r>
              <a:rPr b="0">
                <a:solidFill>
                  <a:srgbClr val="F1F5F9"/>
                </a:solidFill>
              </a:rPr>
              <a:t>Users can back up their entire store database by making a duplicate copy of `db.sqlite3`.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Procedure for Updating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1. Copy Old DB: </a:t>
            </a:r>
            <a:r>
              <a:rPr b="0">
                <a:solidFill>
                  <a:srgbClr val="F1F5F9"/>
                </a:solidFill>
              </a:rPr>
              <a:t>Go to the old folder and copy `BizionaryERP/_internal/db.sqlite3`.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2. Extract New Version: </a:t>
            </a:r>
            <a:r>
              <a:rPr b="0">
                <a:solidFill>
                  <a:srgbClr val="F1F5F9"/>
                </a:solidFill>
              </a:rPr>
              <a:t>Extract the updated compiled zip package.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3. Replace Template: </a:t>
            </a:r>
            <a:r>
              <a:rPr b="0">
                <a:solidFill>
                  <a:srgbClr val="F1F5F9"/>
                </a:solidFill>
              </a:rPr>
              <a:t>Paste the copied `db.sqlite3` file into the new `_internal` directory, replacing the blank database.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4. Run Launcher: </a:t>
            </a:r>
            <a:r>
              <a:rPr b="0">
                <a:solidFill>
                  <a:srgbClr val="F1F5F9"/>
                </a:solidFill>
              </a:rPr>
              <a:t>Double-click the launch script; all historical records will load immediately.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Scalability &amp; 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0152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Multi-Tenant SaaS Support: </a:t>
            </a:r>
            <a:r>
              <a:rPr b="0">
                <a:solidFill>
                  <a:srgbClr val="F1F5F9"/>
                </a:solidFill>
              </a:rPr>
              <a:t>Transition the current single-enterprise design to support multi-tenant user bases, permitting multiple businesses to register and manage their operations independently.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Hardware Integration: </a:t>
            </a:r>
            <a:r>
              <a:rPr b="0">
                <a:solidFill>
                  <a:srgbClr val="F1F5F9"/>
                </a:solidFill>
              </a:rPr>
              <a:t>Build direct interfaces for POS peripheral devices, including barcode scanners, receipt thermal printers, and electronic cash drawers.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Notifications Pipeline: </a:t>
            </a:r>
            <a:r>
              <a:rPr b="0">
                <a:solidFill>
                  <a:srgbClr val="F1F5F9"/>
                </a:solidFill>
              </a:rPr>
              <a:t>Connect SMS (Twilio) and Email (SendGrid) triggers to dynamically alert suppliers on low stock, send invoice reminders to customers, and email managers financial summaries.</a:t>
            </a:r>
          </a:p>
          <a:p>
            <a:pPr>
              <a:spcAft>
                <a:spcPts val="4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Extended AI Capabilities: </a:t>
            </a:r>
            <a:r>
              <a:rPr b="0">
                <a:solidFill>
                  <a:srgbClr val="F1F5F9"/>
                </a:solidFill>
              </a:rPr>
              <a:t>Build deep learning models for advanced predictive demand forecasting based on external seasonal events, market trends, and historic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2DD4BF"/>
                </a:solidFill>
                <a:latin typeface="Segoe UI"/>
              </a:defRPr>
            </a:pPr>
            <a:r>
              <a:t>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