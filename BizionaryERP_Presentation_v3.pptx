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38BDF8"/>
                </a:solidFill>
                <a:latin typeface="Segoe UI"/>
              </a:defRPr>
            </a:pPr>
            <a:r>
              <a:t>BIZIONARY ERP SYSTEM</a:t>
            </a:r>
          </a:p>
          <a:p>
            <a:pPr>
              <a:spcBef>
                <a:spcPts val="800"/>
              </a:spcBef>
              <a:defRPr sz="2000">
                <a:solidFill>
                  <a:srgbClr val="2DD4BF"/>
                </a:solidFill>
                <a:latin typeface="Segoe UI"/>
              </a:defRPr>
            </a:pPr>
            <a:r>
              <a:t>A Secure, Agentic AI-Enabled Enterprise Resource Planning Platform for SMEs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4389120"/>
            <a:ext cx="3383280" cy="16459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26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Corporate Ledgers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310896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Consolidated relational DB schemas.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Strict double-entry journal auditing.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Automatic database stock signals.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389120"/>
            <a:ext cx="3383280" cy="16459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4526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AI-Driven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46320"/>
            <a:ext cx="310896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Groq Llama 3.3 chatbot helper.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NLP pricing margin alerts.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Demand velocity forecasting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389120"/>
            <a:ext cx="3383280" cy="16459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526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Dynamic 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846320"/>
            <a:ext cx="310896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Drag &amp; Drop sales PDF uploader.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Robust monthly Excel parser.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Zero-downtime key administration.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The Problem vs. The Bizionary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Segoe UI"/>
              </a:defRPr>
            </a:pPr>
            <a:r>
              <a:t>SME Operational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75488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Fragmented Tools: </a:t>
            </a:r>
            <a:r>
              <a:rPr b="0">
                <a:solidFill>
                  <a:srgbClr val="F1F5F9"/>
                </a:solidFill>
              </a:rPr>
              <a:t>rely on offline sheets and paper slips, causing stock data mismatches.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No Transaction Auditing: </a:t>
            </a:r>
            <a:r>
              <a:rPr b="0">
                <a:solidFill>
                  <a:srgbClr val="F1F5F9"/>
                </a:solidFill>
              </a:rPr>
              <a:t>updates occur without logs, masking errors or theft.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Delayed Business Intelligence: </a:t>
            </a:r>
            <a:r>
              <a:rPr b="0">
                <a:solidFill>
                  <a:srgbClr val="F1F5F9"/>
                </a:solidFill>
              </a:rPr>
              <a:t>compiling cash flow sheets manually takes weeks.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Costly Restock Checks: </a:t>
            </a:r>
            <a:r>
              <a:rPr b="0">
                <a:solidFill>
                  <a:srgbClr val="F1F5F9"/>
                </a:solidFill>
              </a:rPr>
              <a:t>physical inventory checks cause stockouts or overstocks.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The Integrated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94560"/>
            <a:ext cx="475488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Centralized ERP Layout: </a:t>
            </a:r>
            <a:r>
              <a:rPr b="0">
                <a:solidFill>
                  <a:srgbClr val="F1F5F9"/>
                </a:solidFill>
              </a:rPr>
              <a:t>relational DB linking Sales, Purchases, Ledgers, and stock.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Automated Ledger Signals: </a:t>
            </a:r>
            <a:r>
              <a:rPr b="0">
                <a:solidFill>
                  <a:srgbClr val="F1F5F9"/>
                </a:solidFill>
              </a:rPr>
              <a:t>hooks post transactions to double-entry journals instantly.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Agentic Conversational BI: </a:t>
            </a:r>
            <a:r>
              <a:rPr b="0">
                <a:solidFill>
                  <a:srgbClr val="F1F5F9"/>
                </a:solidFill>
              </a:rPr>
              <a:t>chatbot runs local queries to fetch real-time reports.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Automated Ingestion Pipeline: </a:t>
            </a:r>
            <a:r>
              <a:rPr b="0">
                <a:solidFill>
                  <a:srgbClr val="F1F5F9"/>
                </a:solidFill>
              </a:rPr>
              <a:t>parsers ingest Excel sheets and PDFs to update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Enterprise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0116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React 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194560"/>
            <a:ext cx="173736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FRONTEND SPA</a:t>
            </a:r>
            <a:br/>
            <a:br/>
            <a:r>
              <a:t>• React 19.2 (Vite)</a:t>
            </a:r>
            <a:br/>
            <a:r>
              <a:t>• Tailwind CSS v4</a:t>
            </a:r>
            <a:br/>
            <a:r>
              <a:t>• Lucide Icons</a:t>
            </a:r>
            <a:br/>
            <a:r>
              <a:t>• Recharts graphs</a:t>
            </a:r>
            <a:br/>
            <a:r>
              <a:t>• jsPDF downloads</a:t>
            </a:r>
            <a:br/>
            <a:r>
              <a:t>• HTML Canvas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45920"/>
            <a:ext cx="20116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783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Django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2194560"/>
            <a:ext cx="173736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APPLICATION CORE</a:t>
            </a:r>
            <a:br/>
            <a:br/>
            <a:r>
              <a:t>• Django 4.2.7 Core</a:t>
            </a:r>
            <a:br/>
            <a:r>
              <a:t>• REST Framework</a:t>
            </a:r>
            <a:br/>
            <a:r>
              <a:t>• JWT Stateless Auth</a:t>
            </a:r>
            <a:br/>
            <a:r>
              <a:t>• post_save Signals</a:t>
            </a:r>
            <a:br/>
            <a:r>
              <a:t>• CORS Middleware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645920"/>
            <a:ext cx="20116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783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Segoe UI"/>
              </a:defRPr>
            </a:pPr>
            <a:r>
              <a:t>Cognitive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2194560"/>
            <a:ext cx="173736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INTELLIGENT LAYER</a:t>
            </a:r>
            <a:br/>
            <a:br/>
            <a:r>
              <a:t>• Groq SDK</a:t>
            </a:r>
            <a:br/>
            <a:r>
              <a:t>• Llama 3.3 Engine</a:t>
            </a:r>
            <a:br/>
            <a:r>
              <a:t>• Function Calling</a:t>
            </a:r>
            <a:br/>
            <a:r>
              <a:t>• OpenAI API GPT</a:t>
            </a:r>
            <a:br/>
            <a:r>
              <a:t>• Sentiment Analysis</a:t>
            </a:r>
            <a:br/>
            <a:r>
              <a:t>• Predictive Insights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645920"/>
            <a:ext cx="20116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783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B308"/>
                </a:solidFill>
                <a:latin typeface="Segoe UI"/>
              </a:defRPr>
            </a:pPr>
            <a:r>
              <a:t>Data &amp; Ingestion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2194560"/>
            <a:ext cx="173736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ANALYSIS &amp; STORAGE</a:t>
            </a:r>
            <a:br/>
            <a:br/>
            <a:r>
              <a:t>• SQLite 3 (Local)</a:t>
            </a:r>
            <a:br/>
            <a:r>
              <a:t>• PostgreSQL (Cloud)</a:t>
            </a:r>
            <a:br/>
            <a:r>
              <a:t>• Pandas parser</a:t>
            </a:r>
            <a:br/>
            <a:r>
              <a:t>• openpyxl Engine</a:t>
            </a:r>
            <a:br/>
            <a:r>
              <a:t>• DB Cache manager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645920"/>
            <a:ext cx="21305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783080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38360" y="2194560"/>
            <a:ext cx="1856231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DEPLOYMENT</a:t>
            </a:r>
            <a:br/>
            <a:br/>
            <a:r>
              <a:t>• Vercel Edge CDN</a:t>
            </a:r>
            <a:br/>
            <a:r>
              <a:t>• Railway API host</a:t>
            </a:r>
            <a:br/>
            <a:r>
              <a:t>• Docker runtimes</a:t>
            </a:r>
            <a:br/>
            <a:r>
              <a:t>• PyInstaller build</a:t>
            </a:r>
            <a:br/>
            <a:r>
              <a:t>• Windows standalone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Project Components &amp; Data Flow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200400" cy="36576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1. Frontend (React SPA)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60320"/>
            <a:ext cx="2926080" cy="292608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Visual Screens:</a:t>
            </a:r>
            <a:br/>
            <a:r>
              <a:t>• Executive Dashboard</a:t>
            </a:r>
            <a:br/>
            <a:r>
              <a:t>• POS Scan Form &amp; Ingestion</a:t>
            </a:r>
            <a:br/>
            <a:r>
              <a:t>• Stock Modals &amp; Calculations</a:t>
            </a:r>
            <a:br/>
            <a:br/>
            <a:r>
              <a:t>Mechanism:</a:t>
            </a:r>
            <a:br/>
            <a:r>
              <a:t>• Asynchronous Axios clients</a:t>
            </a:r>
            <a:br/>
            <a:r>
              <a:t>• JWT Bearer Auth tokens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49039" y="3474720"/>
            <a:ext cx="640080" cy="36576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2011680"/>
            <a:ext cx="3200400" cy="36576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2. Django REST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2560320"/>
            <a:ext cx="2926080" cy="292608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Endpoints Viewsets:</a:t>
            </a:r>
            <a:br/>
            <a:r>
              <a:t>• `/api/dashboard/summary/`</a:t>
            </a:r>
            <a:br/>
            <a:r>
              <a:t>• `/api/sales/transactions/`</a:t>
            </a:r>
            <a:br/>
            <a:r>
              <a:t>• `/api/chatbot/query/`</a:t>
            </a:r>
            <a:br/>
            <a:br/>
            <a:r>
              <a:t>Event Triggers:</a:t>
            </a:r>
            <a:br/>
            <a:r>
              <a:t>• Django DB Signals (COGS, cash flows, inventory items mapping)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72400" y="2743200"/>
            <a:ext cx="640080" cy="36576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772400" y="4206240"/>
            <a:ext cx="640080" cy="36576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0" y="1645920"/>
            <a:ext cx="3200400" cy="201168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B308"/>
                </a:solidFill>
                <a:latin typeface="Segoe UI"/>
              </a:defRPr>
            </a:pPr>
            <a:r>
              <a:t>3. Relational 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2103120"/>
            <a:ext cx="2926080" cy="137160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1F5F9"/>
                </a:solidFill>
                <a:latin typeface="Segoe UI"/>
              </a:defRPr>
            </a:pPr>
            <a:r>
              <a:t>• SQLite 3 local storage</a:t>
            </a:r>
            <a:br/>
            <a:r>
              <a:t>• PostgreSQL deployment schema</a:t>
            </a:r>
            <a:br/>
            <a:r>
              <a:t>• Double-entry general ledger 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3931920"/>
            <a:ext cx="3200400" cy="201168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4069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Segoe UI"/>
              </a:defRPr>
            </a:pPr>
            <a:r>
              <a:t>4. AI Layer (Groq &amp; OpenAI)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4389120"/>
            <a:ext cx="2926080" cy="137160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1F5F9"/>
                </a:solidFill>
                <a:latin typeface="Segoe UI"/>
              </a:defRPr>
            </a:pPr>
            <a:r>
              <a:t>• Groq Llama 3.3 Function calling</a:t>
            </a:r>
            <a:br/>
            <a:r>
              <a:t>• Local database query router</a:t>
            </a:r>
            <a:br/>
            <a:r>
              <a:t>• OpenAI sentiment and OCR text parsing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Master Data &amp; 6-Month Sales Seeding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Step 1: Master Catalog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86000"/>
            <a:ext cx="3200400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Initial Data Setup:</a:t>
            </a:r>
            <a:br/>
            <a:r>
              <a:t>• Exposes real catalogs of items, standard purchase costs, supplier profiles, and categories.</a:t>
            </a:r>
            <a:br/>
            <a:r>
              <a:t>• Registers items like Beverages, Grocery, Pharmaceuticals, and Stationery.</a:t>
            </a:r>
            <a:br/>
            <a:r>
              <a:t>• Pre-defines minimum stock thresholds for alert triggers.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69080" y="3474720"/>
            <a:ext cx="3657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474720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Step 2: Seeding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2286000"/>
            <a:ext cx="3200400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Seeding Logic:</a:t>
            </a:r>
            <a:br/>
            <a:r>
              <a:t>• Executes script `seed_historical_sales.py` to generate sample logs.</a:t>
            </a:r>
            <a:br/>
            <a:r>
              <a:t>• Seeds data across multiple calendar months (e.g. January to April 2026).</a:t>
            </a:r>
            <a:br/>
            <a:r>
              <a:t>• Simulates random order sizes (1-8 pcs) and standard payment methods.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83879" y="3474720"/>
            <a:ext cx="3657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0" y="1828800"/>
            <a:ext cx="3044952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965960"/>
            <a:ext cx="2770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B308"/>
                </a:solidFill>
                <a:latin typeface="Segoe UI"/>
              </a:defRPr>
            </a:pPr>
            <a:r>
              <a:t>Step 3: Outcome &amp;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2286000"/>
            <a:ext cx="2770632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Outcome Results:</a:t>
            </a:r>
            <a:br/>
            <a:r>
              <a:t>• Generates 6 months of sales history representing over 100+ transactions.</a:t>
            </a:r>
            <a:br/>
            <a:r>
              <a:t>• Populates dashboard insights with real trending sales velocity curves.</a:t>
            </a:r>
            <a:br/>
            <a:r>
              <a:t>• Enables AI analytics to test demand forecasts, profit summaries, and reorder levels.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Executive Dashboard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1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Metrics &amp;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Interface: </a:t>
            </a:r>
            <a:r>
              <a:rPr b="0">
                <a:solidFill>
                  <a:srgbClr val="F1F5F9"/>
                </a:solidFill>
              </a:rPr>
              <a:t>Displays revenue (Rs. 212M), expenses (Rs. 8M), net profits (Rs. 57M), active items, pending ordered slips, and asset valuation.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Link: </a:t>
            </a:r>
            <a:r>
              <a:rPr b="0">
                <a:solidFill>
                  <a:srgbClr val="F1F5F9"/>
                </a:solidFill>
              </a:rPr>
              <a:t>React fetches `/api/dashboard/summary/`. Django ORM aggregates records and caches the outputs.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Outcome: </a:t>
            </a:r>
            <a:r>
              <a:rPr b="0">
                <a:solidFill>
                  <a:srgbClr val="F1F5F9"/>
                </a:solidFill>
              </a:rPr>
              <a:t>Immediate overview of company liquidity and shortcuts to core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Sales Performance Insights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Interactive Sales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Interface: </a:t>
            </a:r>
            <a:r>
              <a:rPr b="0">
                <a:solidFill>
                  <a:srgbClr val="F1F5F9"/>
                </a:solidFill>
              </a:rPr>
              <a:t>Stacked vertical category bars (Clothing, Grocery, Stationery) and profit lines over 10-day period.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Link: </a:t>
            </a:r>
            <a:r>
              <a:rPr b="0">
                <a:solidFill>
                  <a:srgbClr val="F1F5F9"/>
                </a:solidFill>
              </a:rPr>
              <a:t>Recharts SPA queries `/api/dashboard/insights/?period=10`. Backend returns transaction grouped JSON data.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Outcome: </a:t>
            </a:r>
            <a:r>
              <a:rPr b="0">
                <a:solidFill>
                  <a:srgbClr val="F1F5F9"/>
                </a:solidFill>
              </a:rPr>
              <a:t>Renders immediate sales dynamics, tracking margins and categories sold.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Accounts &amp; Financial Ledger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Ledger Rollup &amp; Reconciliation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Interface: </a:t>
            </a:r>
            <a:r>
              <a:rPr b="0">
                <a:solidFill>
                  <a:srgbClr val="F1F5F9"/>
                </a:solidFill>
              </a:rPr>
              <a:t>Monthly financial aggregates (Profit, Cost, Cash) with general journal transaction entries.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Link: </a:t>
            </a:r>
            <a:r>
              <a:rPr b="0">
                <a:solidFill>
                  <a:srgbClr val="F1F5F9"/>
                </a:solidFill>
              </a:rPr>
              <a:t>Queries `/api/accounts/ledger-summary/`. Reconcile button calls backend `/api/accounts/reconcile/` checking debits/credits balance.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Outcome: </a:t>
            </a:r>
            <a:r>
              <a:rPr b="0">
                <a:solidFill>
                  <a:srgbClr val="F1F5F9"/>
                </a:solidFill>
              </a:rPr>
              <a:t>Auto-balancing transaction ledger checks and click-to-verify audits.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Product Catalog &amp; Custom Sections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Metadata Columns &amp; Inventory 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Interface: </a:t>
            </a:r>
            <a:r>
              <a:rPr b="0">
                <a:solidFill>
                  <a:srgbClr val="F1F5F9"/>
                </a:solidFill>
              </a:rPr>
              <a:t>Product catalog grid showing SKU, purchase/selling price, margins, shop/warehouse stock, and edit tools.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Link: </a:t>
            </a:r>
            <a:r>
              <a:rPr b="0">
                <a:solidFill>
                  <a:srgbClr val="F1F5F9"/>
                </a:solidFill>
              </a:rPr>
              <a:t>React tables render records. Dynamic columns calls `/api/products/custom-columns/` schema modification.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Outcome: </a:t>
            </a:r>
            <a:r>
              <a:rPr b="0">
                <a:solidFill>
                  <a:srgbClr val="F1F5F9"/>
                </a:solidFill>
              </a:rPr>
              <a:t>Complete items cataloging and automatic price adjustments across POS terminals.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Stock Management Control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Reorder Threshold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Interface: </a:t>
            </a:r>
            <a:r>
              <a:rPr b="0">
                <a:solidFill>
                  <a:srgbClr val="F1F5F9"/>
                </a:solidFill>
              </a:rPr>
              <a:t>Inventory valuation cards, low stock alerts, incoming items cards.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Link: </a:t>
            </a:r>
            <a:r>
              <a:rPr b="0">
                <a:solidFill>
                  <a:srgbClr val="F1F5F9"/>
                </a:solidFill>
              </a:rPr>
              <a:t>Client fetches `/api/stock/status/`. Modifying the warning parameters updates `/api/stock/settings/` immediately.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Outcome: </a:t>
            </a:r>
            <a:r>
              <a:rPr b="0">
                <a:solidFill>
                  <a:srgbClr val="F1F5F9"/>
                </a:solidFill>
              </a:rPr>
              <a:t>Eliminates stockouts by raising flags on low stock thresholds.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Warehouse Stock &amp; Procurement Modals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Granular Location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Interface: </a:t>
            </a:r>
            <a:r>
              <a:rPr b="0">
                <a:solidFill>
                  <a:srgbClr val="F1F5F9"/>
                </a:solidFill>
              </a:rPr>
              <a:t>Modal lists breakdown of items inside the warehouse vs. pending supplier shipments.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Link: </a:t>
            </a:r>
            <a:r>
              <a:rPr b="0">
                <a:solidFill>
                  <a:srgbClr val="F1F5F9"/>
                </a:solidFill>
              </a:rPr>
              <a:t>React hooks query `/api/stock/warehouse-breakdown/` and `/api/procurement/pending-breakdown/` endpoints.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Outcome: </a:t>
            </a:r>
            <a:r>
              <a:rPr b="0">
                <a:solidFill>
                  <a:srgbClr val="F1F5F9"/>
                </a:solidFill>
              </a:rPr>
              <a:t>Total tracking of item location balances and incoming supplier arrivals.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Sales Transactions &amp; Ingestion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Transaction Logging &amp; PDF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Interface: </a:t>
            </a:r>
            <a:r>
              <a:rPr b="0">
                <a:solidFill>
                  <a:srgbClr val="F1F5F9"/>
                </a:solidFill>
              </a:rPr>
              <a:t>Sales goal analytics gauge, sales table displaying references, dates, costs, customer details.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Link: </a:t>
            </a:r>
            <a:r>
              <a:rPr b="0">
                <a:solidFill>
                  <a:srgbClr val="F1F5F9"/>
                </a:solidFill>
              </a:rPr>
              <a:t>Renders paginated listings from `/api/sales/transactions/`. Excel/PDF uploads call bulk import services.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Outcome: </a:t>
            </a:r>
            <a:r>
              <a:rPr b="0">
                <a:solidFill>
                  <a:srgbClr val="F1F5F9"/>
                </a:solidFill>
              </a:rPr>
              <a:t>Immutable audit trails and immediate ledger synchronization upon upload.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Supplier Ordered Slips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Procurement Order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Interface: </a:t>
            </a:r>
            <a:r>
              <a:rPr b="0">
                <a:solidFill>
                  <a:srgbClr val="F1F5F9"/>
                </a:solidFill>
              </a:rPr>
              <a:t>Supplier slips table tracking ordered/received ratios, costs, totals, and pending status.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Link: </a:t>
            </a:r>
            <a:r>
              <a:rPr b="0">
                <a:solidFill>
                  <a:srgbClr val="F1F5F9"/>
                </a:solidFill>
              </a:rPr>
              <a:t>Exposes `/api/procurement/slips/`. 'Mark Partial' endpoint registers incoming units to inventory.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Outcome: </a:t>
            </a:r>
            <a:r>
              <a:rPr b="0">
                <a:solidFill>
                  <a:srgbClr val="F1F5F9"/>
                </a:solidFill>
              </a:rPr>
              <a:t>Seamless tracking of vendor shipments and click-to-print procurement slips.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AI Chatbot Assistant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Agentic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Interface: </a:t>
            </a:r>
            <a:r>
              <a:rPr b="0">
                <a:solidFill>
                  <a:srgbClr val="F1F5F9"/>
                </a:solidFill>
              </a:rPr>
              <a:t>Conversational panel answering database queries (e.g. low stock, sales totals) and outputting graphs.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Link: </a:t>
            </a:r>
            <a:r>
              <a:rPr b="0">
                <a:solidFill>
                  <a:srgbClr val="F1F5F9"/>
                </a:solidFill>
              </a:rPr>
              <a:t>Groq API `/api/chatbot/query/` using RAG. Chatbot maps queries to local python tool calling functions.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Outcome: </a:t>
            </a:r>
            <a:r>
              <a:rPr b="0">
                <a:solidFill>
                  <a:srgbClr val="F1F5F9"/>
                </a:solidFill>
              </a:rPr>
              <a:t>Rapid analytics reporting and quick stats lookup without manual search.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Pack &amp; Carton Price Calculator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44569058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Pack Dynamics Calculator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Interface: </a:t>
            </a:r>
            <a:r>
              <a:rPr b="0">
                <a:solidFill>
                  <a:srgbClr val="F1F5F9"/>
                </a:solidFill>
              </a:rPr>
              <a:t>Interactive calculations panel with input selectors (Single Unit vs Carton Mode) and dynamically updated profit margin indicators.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Link: </a:t>
            </a:r>
            <a:r>
              <a:rPr b="0">
                <a:solidFill>
                  <a:srgbClr val="F1F5F9"/>
                </a:solidFill>
              </a:rPr>
              <a:t>Real-time React calculation inputs updating unit margin ratios based on custom carton size parameters.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Outcome: </a:t>
            </a:r>
            <a:r>
              <a:rPr b="0">
                <a:solidFill>
                  <a:srgbClr val="F1F5F9"/>
                </a:solidFill>
              </a:rPr>
              <a:t>Minimizes arithmetic estimation errors, helping shopkeepers evaluate expected profits immediately.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Direct Stock Purchase (Latest Modification)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44569447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Direct Inflow Ledger Entries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Interface: </a:t>
            </a:r>
            <a:r>
              <a:rPr b="0">
                <a:solidFill>
                  <a:srgbClr val="F1F5F9"/>
                </a:solidFill>
              </a:rPr>
              <a:t>Overlay modal panel for recording direct purchases, selecting product catalogues, and configuring pack sizes.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Link: </a:t>
            </a:r>
            <a:r>
              <a:rPr b="0">
                <a:solidFill>
                  <a:srgbClr val="F1F5F9"/>
                </a:solidFill>
              </a:rPr>
              <a:t>Submits records to Purchases API and triggers database signals routing stock quantities to Shop or Warehouse.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Outcome: </a:t>
            </a:r>
            <a:r>
              <a:rPr b="0">
                <a:solidFill>
                  <a:srgbClr val="F1F5F9"/>
                </a:solidFill>
              </a:rPr>
              <a:t>Instant ledger records and COGS updates for products purchased directly from suppliers.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AI Sales Slip PDF Upload / Bulk Sale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44571997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AI-Driven Parser Modal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Interface: </a:t>
            </a:r>
            <a:r>
              <a:rPr b="0">
                <a:solidFill>
                  <a:srgbClr val="F1F5F9"/>
                </a:solidFill>
              </a:rPr>
              <a:t>Drag-and-drop file upload dialog and dynamic extracted products table (matching parsed names with existing items).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Link: </a:t>
            </a:r>
            <a:r>
              <a:rPr b="0">
                <a:solidFill>
                  <a:srgbClr val="F1F5F9"/>
                </a:solidFill>
              </a:rPr>
              <a:t>React extracts PDF texts and posts metadata to `/api/sales/bulk-upload/` resolving matches using OpenAI GPT models.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Outcome: </a:t>
            </a:r>
            <a:r>
              <a:rPr b="0">
                <a:solidFill>
                  <a:srgbClr val="F1F5F9"/>
                </a:solidFill>
              </a:rPr>
              <a:t>Automatically processes bulk invoice items, logs general journals, and increments catalog stock.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Standalone Desktop Executable (.exe)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Vite React Compilation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86000"/>
            <a:ext cx="3200400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Step 1: Frontend Build:</a:t>
            </a:r>
            <a:br/>
            <a:r>
              <a:t>• Cleans former build outputs.</a:t>
            </a:r>
            <a:br/>
            <a:r>
              <a:t>• Bundles static HTML, CSS, and JS components using Vite compiler.</a:t>
            </a:r>
            <a:br/>
            <a:r>
              <a:t>• Optimizes asset trees to generate single-page static distribution directories.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69080" y="3474720"/>
            <a:ext cx="3657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474720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Django Ledger Migration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2286000"/>
            <a:ext cx="3200400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Step 2: Database Preparation:</a:t>
            </a:r>
            <a:br/>
            <a:r>
              <a:t>• Runs Django model checkups and applies migrations to build a blank SQLite database schema.</a:t>
            </a:r>
            <a:br/>
            <a:r>
              <a:t>• Collects static bundles using python command-line scripts.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83879" y="3474720"/>
            <a:ext cx="3657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0" y="1828800"/>
            <a:ext cx="3044952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965960"/>
            <a:ext cx="2770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B308"/>
                </a:solidFill>
                <a:latin typeface="Segoe UI"/>
              </a:defRPr>
            </a:pPr>
            <a:r>
              <a:t>PyInstaller Executable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2286000"/>
            <a:ext cx="2770632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Step 3: Packaged Binary:</a:t>
            </a:r>
            <a:br/>
            <a:r>
              <a:t>• Invokes PyInstaller compiler wrapping `run_server.py` and embedding Python DLLs and sqlite schemas.</a:t>
            </a:r>
            <a:br/>
            <a:r>
              <a:t>• Generates a standalone double-clickable `BizionaryERP_Windows.zip` archive containing the local runner.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Data Portability &amp; 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Self-Contained SQLite Backups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Database Portability: </a:t>
            </a:r>
            <a:r>
              <a:rPr b="0">
                <a:solidFill>
                  <a:srgbClr val="F1F5F9"/>
                </a:solidFill>
              </a:rPr>
              <a:t>All records (products, transactions, cash flows, user credentials) are saved in a single, robust file named `db.sqlite3`.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Physical Isolation: </a:t>
            </a:r>
            <a:r>
              <a:rPr b="0">
                <a:solidFill>
                  <a:srgbClr val="F1F5F9"/>
                </a:solidFill>
              </a:rPr>
              <a:t>The database resides inside the `_internal` subdirectory of the compiled standalone package.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Simple Copy-Paste Backup: </a:t>
            </a:r>
            <a:r>
              <a:rPr b="0">
                <a:solidFill>
                  <a:srgbClr val="F1F5F9"/>
                </a:solidFill>
              </a:rPr>
              <a:t>Users can back up their entire store database by making a duplicate copy of `db.sqlite3`.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Procedure for Updating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1. Copy Old DB: </a:t>
            </a:r>
            <a:r>
              <a:rPr b="0">
                <a:solidFill>
                  <a:srgbClr val="F1F5F9"/>
                </a:solidFill>
              </a:rPr>
              <a:t>Go to the old folder and copy `BizionaryERP/_internal/db.sqlite3`.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2. Extract New Version: </a:t>
            </a:r>
            <a:r>
              <a:rPr b="0">
                <a:solidFill>
                  <a:srgbClr val="F1F5F9"/>
                </a:solidFill>
              </a:rPr>
              <a:t>Extract the updated compiled zip package.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3. Replace Template: </a:t>
            </a:r>
            <a:r>
              <a:rPr b="0">
                <a:solidFill>
                  <a:srgbClr val="F1F5F9"/>
                </a:solidFill>
              </a:rPr>
              <a:t>Paste the copied `db.sqlite3` file into the new `_internal` directory, replacing the blank database.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4. Run Launcher: </a:t>
            </a:r>
            <a:r>
              <a:rPr b="0">
                <a:solidFill>
                  <a:srgbClr val="F1F5F9"/>
                </a:solidFill>
              </a:rPr>
              <a:t>Double-click the launch script; all historical records will load immediately.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17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Scalability &amp; Product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60152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Multi-Tenant SaaS Support: </a:t>
            </a:r>
            <a:r>
              <a:rPr b="0">
                <a:solidFill>
                  <a:srgbClr val="F1F5F9"/>
                </a:solidFill>
              </a:rPr>
              <a:t>Transition the current single-enterprise design to support multi-tenant user bases, permitting multiple businesses to register and manage their operations independently.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Hardware Integration: </a:t>
            </a:r>
            <a:r>
              <a:rPr b="0">
                <a:solidFill>
                  <a:srgbClr val="F1F5F9"/>
                </a:solidFill>
              </a:rPr>
              <a:t>Build direct interfaces for POS peripheral devices, including barcode scanners, receipt thermal printers, and electronic cash drawers.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Automated Notifications Pipeline: </a:t>
            </a:r>
            <a:r>
              <a:rPr b="0">
                <a:solidFill>
                  <a:srgbClr val="F1F5F9"/>
                </a:solidFill>
              </a:rPr>
              <a:t>Connect SMS (Twilio) and Email (SendGrid) triggers to dynamically alert suppliers on low stock, send invoice reminders to customers, and email managers financial summaries.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Extended AI Capabilities: </a:t>
            </a:r>
            <a:r>
              <a:rPr b="0">
                <a:solidFill>
                  <a:srgbClr val="F1F5F9"/>
                </a:solidFill>
              </a:rPr>
              <a:t>Build deep learning models for advanced predictive demand forecasting based on external seasonal events, market trends, and historic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820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38BDF8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400">
                <a:solidFill>
                  <a:srgbClr val="2DD4BF"/>
                </a:solidFill>
                <a:latin typeface="Segoe UI"/>
              </a:defRPr>
            </a:pPr>
            <a:r>
              <a:t>Questions &amp; Answers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